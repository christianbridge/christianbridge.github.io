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83" r:id="rId3"/>
    <p:sldId id="284" r:id="rId4"/>
    <p:sldId id="257" r:id="rId5"/>
    <p:sldId id="276" r:id="rId6"/>
    <p:sldId id="277" r:id="rId7"/>
    <p:sldId id="278" r:id="rId8"/>
    <p:sldId id="258" r:id="rId9"/>
    <p:sldId id="280" r:id="rId10"/>
    <p:sldId id="279" r:id="rId11"/>
    <p:sldId id="259" r:id="rId12"/>
    <p:sldId id="282" r:id="rId13"/>
    <p:sldId id="286" r:id="rId14"/>
    <p:sldId id="290" r:id="rId15"/>
    <p:sldId id="263" r:id="rId16"/>
    <p:sldId id="260" r:id="rId17"/>
    <p:sldId id="262" r:id="rId18"/>
    <p:sldId id="264" r:id="rId19"/>
    <p:sldId id="265" r:id="rId20"/>
    <p:sldId id="287" r:id="rId21"/>
    <p:sldId id="288" r:id="rId22"/>
    <p:sldId id="291" r:id="rId23"/>
    <p:sldId id="292" r:id="rId24"/>
    <p:sldId id="269" r:id="rId25"/>
    <p:sldId id="275" r:id="rId26"/>
    <p:sldId id="28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152" d="100"/>
          <a:sy n="152" d="100"/>
        </p:scale>
        <p:origin x="576"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BCCE8E-DE2B-48A0-A3CF-898803F53F0F}" type="doc">
      <dgm:prSet loTypeId="urn:microsoft.com/office/officeart/2005/8/layout/vList2" loCatId="list" qsTypeId="urn:microsoft.com/office/officeart/2005/8/quickstyle/simple5" qsCatId="simple" csTypeId="urn:microsoft.com/office/officeart/2005/8/colors/colorful2" csCatId="colorful"/>
      <dgm:spPr/>
      <dgm:t>
        <a:bodyPr/>
        <a:lstStyle/>
        <a:p>
          <a:endParaRPr lang="en-US"/>
        </a:p>
      </dgm:t>
    </dgm:pt>
    <dgm:pt modelId="{AE637642-EF52-4BBD-B461-74A2E14E5282}">
      <dgm:prSet/>
      <dgm:spPr/>
      <dgm:t>
        <a:bodyPr/>
        <a:lstStyle/>
        <a:p>
          <a:r>
            <a:rPr lang="en-US"/>
            <a:t>Authentication – verifying identities of users, allowing only valid users system access. (Ajish, 2024, pg.7)</a:t>
          </a:r>
        </a:p>
      </dgm:t>
    </dgm:pt>
    <dgm:pt modelId="{C7EF47FE-AACD-4AB9-87B1-3E5E6E49CC8F}" type="parTrans" cxnId="{85F4F090-BD34-4D43-A5ED-031EE7F5C417}">
      <dgm:prSet/>
      <dgm:spPr/>
      <dgm:t>
        <a:bodyPr/>
        <a:lstStyle/>
        <a:p>
          <a:endParaRPr lang="en-US"/>
        </a:p>
      </dgm:t>
    </dgm:pt>
    <dgm:pt modelId="{C4EF0350-7646-45F9-83D1-325F62DA3916}" type="sibTrans" cxnId="{85F4F090-BD34-4D43-A5ED-031EE7F5C417}">
      <dgm:prSet/>
      <dgm:spPr/>
      <dgm:t>
        <a:bodyPr/>
        <a:lstStyle/>
        <a:p>
          <a:endParaRPr lang="en-US"/>
        </a:p>
      </dgm:t>
    </dgm:pt>
    <dgm:pt modelId="{D7C3FACC-706B-4954-9AEF-E077513070D1}">
      <dgm:prSet/>
      <dgm:spPr/>
      <dgm:t>
        <a:bodyPr/>
        <a:lstStyle/>
        <a:p>
          <a:r>
            <a:rPr lang="en-US"/>
            <a:t>Authorization – the extent to which a user can access a system; permissions and roles that grant access to parts of a system.(Ajish, 2024, pg.9)</a:t>
          </a:r>
        </a:p>
      </dgm:t>
    </dgm:pt>
    <dgm:pt modelId="{A3665BEF-5712-4069-81CB-528AC8C1CC04}" type="parTrans" cxnId="{695D7C91-7AD2-45A4-8C99-DD6CCFFB8947}">
      <dgm:prSet/>
      <dgm:spPr/>
      <dgm:t>
        <a:bodyPr/>
        <a:lstStyle/>
        <a:p>
          <a:endParaRPr lang="en-US"/>
        </a:p>
      </dgm:t>
    </dgm:pt>
    <dgm:pt modelId="{2A81E4EA-9031-4842-819B-2F0A7FC73DCA}" type="sibTrans" cxnId="{695D7C91-7AD2-45A4-8C99-DD6CCFFB8947}">
      <dgm:prSet/>
      <dgm:spPr/>
      <dgm:t>
        <a:bodyPr/>
        <a:lstStyle/>
        <a:p>
          <a:endParaRPr lang="en-US"/>
        </a:p>
      </dgm:t>
    </dgm:pt>
    <dgm:pt modelId="{9B049A80-C650-4266-880C-63E3EBDCE7B5}">
      <dgm:prSet/>
      <dgm:spPr/>
      <dgm:t>
        <a:bodyPr/>
        <a:lstStyle/>
        <a:p>
          <a:r>
            <a:rPr lang="en-US"/>
            <a:t>Administration – Management of user accounts, roles, access and privileges. (Ajish, 2024, Pg. 10)</a:t>
          </a:r>
        </a:p>
      </dgm:t>
    </dgm:pt>
    <dgm:pt modelId="{51AE7EFB-F9B1-4E3F-AE76-7B26D6CFD1A4}" type="parTrans" cxnId="{6B15A342-88BA-44DA-AE2C-79CFFFEB0AAB}">
      <dgm:prSet/>
      <dgm:spPr/>
      <dgm:t>
        <a:bodyPr/>
        <a:lstStyle/>
        <a:p>
          <a:endParaRPr lang="en-US"/>
        </a:p>
      </dgm:t>
    </dgm:pt>
    <dgm:pt modelId="{5411016F-E376-44BF-9EE9-4ADB1668FE59}" type="sibTrans" cxnId="{6B15A342-88BA-44DA-AE2C-79CFFFEB0AAB}">
      <dgm:prSet/>
      <dgm:spPr/>
      <dgm:t>
        <a:bodyPr/>
        <a:lstStyle/>
        <a:p>
          <a:endParaRPr lang="en-US"/>
        </a:p>
      </dgm:t>
    </dgm:pt>
    <dgm:pt modelId="{D9BC40BC-BDAE-4B89-9A04-A84DAE8AEA68}">
      <dgm:prSet/>
      <dgm:spPr/>
      <dgm:t>
        <a:bodyPr/>
        <a:lstStyle/>
        <a:p>
          <a:r>
            <a:rPr lang="en-US"/>
            <a:t>Auditing, governance, and compliance – Monitoring and recording of access events to detect security threats, enforce compliance, and maintain a record of user activities. (Ajish, 2024, pg.11)</a:t>
          </a:r>
        </a:p>
      </dgm:t>
    </dgm:pt>
    <dgm:pt modelId="{D14DE1BA-6D65-4E3C-A9DD-FFEEFEDB44F1}" type="parTrans" cxnId="{987F8B20-30B9-42F8-B8D8-350DB5998164}">
      <dgm:prSet/>
      <dgm:spPr/>
      <dgm:t>
        <a:bodyPr/>
        <a:lstStyle/>
        <a:p>
          <a:endParaRPr lang="en-US"/>
        </a:p>
      </dgm:t>
    </dgm:pt>
    <dgm:pt modelId="{DA60AD63-8760-4138-A06D-0F81E7651701}" type="sibTrans" cxnId="{987F8B20-30B9-42F8-B8D8-350DB5998164}">
      <dgm:prSet/>
      <dgm:spPr/>
      <dgm:t>
        <a:bodyPr/>
        <a:lstStyle/>
        <a:p>
          <a:endParaRPr lang="en-US"/>
        </a:p>
      </dgm:t>
    </dgm:pt>
    <dgm:pt modelId="{C2FDA2CA-EF88-4301-A05C-2666AE84F1DF}" type="pres">
      <dgm:prSet presAssocID="{10BCCE8E-DE2B-48A0-A3CF-898803F53F0F}" presName="linear" presStyleCnt="0">
        <dgm:presLayoutVars>
          <dgm:animLvl val="lvl"/>
          <dgm:resizeHandles val="exact"/>
        </dgm:presLayoutVars>
      </dgm:prSet>
      <dgm:spPr/>
    </dgm:pt>
    <dgm:pt modelId="{1605B381-68C2-4756-8658-C91D16F3A3F0}" type="pres">
      <dgm:prSet presAssocID="{AE637642-EF52-4BBD-B461-74A2E14E5282}" presName="parentText" presStyleLbl="node1" presStyleIdx="0" presStyleCnt="4">
        <dgm:presLayoutVars>
          <dgm:chMax val="0"/>
          <dgm:bulletEnabled val="1"/>
        </dgm:presLayoutVars>
      </dgm:prSet>
      <dgm:spPr/>
    </dgm:pt>
    <dgm:pt modelId="{AB486807-54D0-4053-A005-A4AF4082F7DF}" type="pres">
      <dgm:prSet presAssocID="{C4EF0350-7646-45F9-83D1-325F62DA3916}" presName="spacer" presStyleCnt="0"/>
      <dgm:spPr/>
    </dgm:pt>
    <dgm:pt modelId="{0CFE77CC-0A7D-43CE-A9A9-5CBC5A7AEB9B}" type="pres">
      <dgm:prSet presAssocID="{D7C3FACC-706B-4954-9AEF-E077513070D1}" presName="parentText" presStyleLbl="node1" presStyleIdx="1" presStyleCnt="4">
        <dgm:presLayoutVars>
          <dgm:chMax val="0"/>
          <dgm:bulletEnabled val="1"/>
        </dgm:presLayoutVars>
      </dgm:prSet>
      <dgm:spPr/>
    </dgm:pt>
    <dgm:pt modelId="{9F5F6C65-6BF4-4178-92DF-4E268E552475}" type="pres">
      <dgm:prSet presAssocID="{2A81E4EA-9031-4842-819B-2F0A7FC73DCA}" presName="spacer" presStyleCnt="0"/>
      <dgm:spPr/>
    </dgm:pt>
    <dgm:pt modelId="{CCA3A29F-D830-481B-9B8E-607595A9B60A}" type="pres">
      <dgm:prSet presAssocID="{9B049A80-C650-4266-880C-63E3EBDCE7B5}" presName="parentText" presStyleLbl="node1" presStyleIdx="2" presStyleCnt="4">
        <dgm:presLayoutVars>
          <dgm:chMax val="0"/>
          <dgm:bulletEnabled val="1"/>
        </dgm:presLayoutVars>
      </dgm:prSet>
      <dgm:spPr/>
    </dgm:pt>
    <dgm:pt modelId="{1C004BD8-5F75-4307-9520-F8738B597C01}" type="pres">
      <dgm:prSet presAssocID="{5411016F-E376-44BF-9EE9-4ADB1668FE59}" presName="spacer" presStyleCnt="0"/>
      <dgm:spPr/>
    </dgm:pt>
    <dgm:pt modelId="{7A89C104-A168-4DA4-B44D-DEF5C2BF7CD2}" type="pres">
      <dgm:prSet presAssocID="{D9BC40BC-BDAE-4B89-9A04-A84DAE8AEA68}" presName="parentText" presStyleLbl="node1" presStyleIdx="3" presStyleCnt="4">
        <dgm:presLayoutVars>
          <dgm:chMax val="0"/>
          <dgm:bulletEnabled val="1"/>
        </dgm:presLayoutVars>
      </dgm:prSet>
      <dgm:spPr/>
    </dgm:pt>
  </dgm:ptLst>
  <dgm:cxnLst>
    <dgm:cxn modelId="{ECFDB719-7ED1-4679-B3C1-C88C1F339804}" type="presOf" srcId="{9B049A80-C650-4266-880C-63E3EBDCE7B5}" destId="{CCA3A29F-D830-481B-9B8E-607595A9B60A}" srcOrd="0" destOrd="0" presId="urn:microsoft.com/office/officeart/2005/8/layout/vList2"/>
    <dgm:cxn modelId="{987F8B20-30B9-42F8-B8D8-350DB5998164}" srcId="{10BCCE8E-DE2B-48A0-A3CF-898803F53F0F}" destId="{D9BC40BC-BDAE-4B89-9A04-A84DAE8AEA68}" srcOrd="3" destOrd="0" parTransId="{D14DE1BA-6D65-4E3C-A9DD-FFEEFEDB44F1}" sibTransId="{DA60AD63-8760-4138-A06D-0F81E7651701}"/>
    <dgm:cxn modelId="{1FB1515C-C59F-4510-9A94-2C2AD963303E}" type="presOf" srcId="{AE637642-EF52-4BBD-B461-74A2E14E5282}" destId="{1605B381-68C2-4756-8658-C91D16F3A3F0}" srcOrd="0" destOrd="0" presId="urn:microsoft.com/office/officeart/2005/8/layout/vList2"/>
    <dgm:cxn modelId="{6B15A342-88BA-44DA-AE2C-79CFFFEB0AAB}" srcId="{10BCCE8E-DE2B-48A0-A3CF-898803F53F0F}" destId="{9B049A80-C650-4266-880C-63E3EBDCE7B5}" srcOrd="2" destOrd="0" parTransId="{51AE7EFB-F9B1-4E3F-AE76-7B26D6CFD1A4}" sibTransId="{5411016F-E376-44BF-9EE9-4ADB1668FE59}"/>
    <dgm:cxn modelId="{85F4F090-BD34-4D43-A5ED-031EE7F5C417}" srcId="{10BCCE8E-DE2B-48A0-A3CF-898803F53F0F}" destId="{AE637642-EF52-4BBD-B461-74A2E14E5282}" srcOrd="0" destOrd="0" parTransId="{C7EF47FE-AACD-4AB9-87B1-3E5E6E49CC8F}" sibTransId="{C4EF0350-7646-45F9-83D1-325F62DA3916}"/>
    <dgm:cxn modelId="{695D7C91-7AD2-45A4-8C99-DD6CCFFB8947}" srcId="{10BCCE8E-DE2B-48A0-A3CF-898803F53F0F}" destId="{D7C3FACC-706B-4954-9AEF-E077513070D1}" srcOrd="1" destOrd="0" parTransId="{A3665BEF-5712-4069-81CB-528AC8C1CC04}" sibTransId="{2A81E4EA-9031-4842-819B-2F0A7FC73DCA}"/>
    <dgm:cxn modelId="{12B251C3-D218-4DCD-9AC2-2D30473E7C59}" type="presOf" srcId="{D7C3FACC-706B-4954-9AEF-E077513070D1}" destId="{0CFE77CC-0A7D-43CE-A9A9-5CBC5A7AEB9B}" srcOrd="0" destOrd="0" presId="urn:microsoft.com/office/officeart/2005/8/layout/vList2"/>
    <dgm:cxn modelId="{DDB8B6C8-F7F2-44C1-A924-87047EF0BC10}" type="presOf" srcId="{D9BC40BC-BDAE-4B89-9A04-A84DAE8AEA68}" destId="{7A89C104-A168-4DA4-B44D-DEF5C2BF7CD2}" srcOrd="0" destOrd="0" presId="urn:microsoft.com/office/officeart/2005/8/layout/vList2"/>
    <dgm:cxn modelId="{CEE2C4F3-9C83-4A30-BD8C-F353CD9655BC}" type="presOf" srcId="{10BCCE8E-DE2B-48A0-A3CF-898803F53F0F}" destId="{C2FDA2CA-EF88-4301-A05C-2666AE84F1DF}" srcOrd="0" destOrd="0" presId="urn:microsoft.com/office/officeart/2005/8/layout/vList2"/>
    <dgm:cxn modelId="{B1028636-9606-4627-A16C-40CFFADE69BC}" type="presParOf" srcId="{C2FDA2CA-EF88-4301-A05C-2666AE84F1DF}" destId="{1605B381-68C2-4756-8658-C91D16F3A3F0}" srcOrd="0" destOrd="0" presId="urn:microsoft.com/office/officeart/2005/8/layout/vList2"/>
    <dgm:cxn modelId="{4EE0588F-B1A7-43EF-824C-2790AEACEC80}" type="presParOf" srcId="{C2FDA2CA-EF88-4301-A05C-2666AE84F1DF}" destId="{AB486807-54D0-4053-A005-A4AF4082F7DF}" srcOrd="1" destOrd="0" presId="urn:microsoft.com/office/officeart/2005/8/layout/vList2"/>
    <dgm:cxn modelId="{D3AC3F77-2D93-40A5-A7E1-172F41E7340A}" type="presParOf" srcId="{C2FDA2CA-EF88-4301-A05C-2666AE84F1DF}" destId="{0CFE77CC-0A7D-43CE-A9A9-5CBC5A7AEB9B}" srcOrd="2" destOrd="0" presId="urn:microsoft.com/office/officeart/2005/8/layout/vList2"/>
    <dgm:cxn modelId="{839739A1-F33C-40AC-A928-A47BC851AC35}" type="presParOf" srcId="{C2FDA2CA-EF88-4301-A05C-2666AE84F1DF}" destId="{9F5F6C65-6BF4-4178-92DF-4E268E552475}" srcOrd="3" destOrd="0" presId="urn:microsoft.com/office/officeart/2005/8/layout/vList2"/>
    <dgm:cxn modelId="{A9BF3B5D-0D96-4E8A-A2FC-95E9D6CBA0FF}" type="presParOf" srcId="{C2FDA2CA-EF88-4301-A05C-2666AE84F1DF}" destId="{CCA3A29F-D830-481B-9B8E-607595A9B60A}" srcOrd="4" destOrd="0" presId="urn:microsoft.com/office/officeart/2005/8/layout/vList2"/>
    <dgm:cxn modelId="{A7724D18-48BB-4252-BD6E-95402A181606}" type="presParOf" srcId="{C2FDA2CA-EF88-4301-A05C-2666AE84F1DF}" destId="{1C004BD8-5F75-4307-9520-F8738B597C01}" srcOrd="5" destOrd="0" presId="urn:microsoft.com/office/officeart/2005/8/layout/vList2"/>
    <dgm:cxn modelId="{6FCA834B-26AC-4CA8-8367-EBBFDB43AE86}" type="presParOf" srcId="{C2FDA2CA-EF88-4301-A05C-2666AE84F1DF}" destId="{7A89C104-A168-4DA4-B44D-DEF5C2BF7CD2}"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307F57-F24D-45F5-9271-365705254DED}" type="doc">
      <dgm:prSet loTypeId="urn:microsoft.com/office/officeart/2005/8/layout/vList2" loCatId="list" qsTypeId="urn:microsoft.com/office/officeart/2005/8/quickstyle/simple5" qsCatId="simple" csTypeId="urn:microsoft.com/office/officeart/2005/8/colors/colorful2" csCatId="colorful"/>
      <dgm:spPr/>
      <dgm:t>
        <a:bodyPr/>
        <a:lstStyle/>
        <a:p>
          <a:endParaRPr lang="en-US"/>
        </a:p>
      </dgm:t>
    </dgm:pt>
    <dgm:pt modelId="{110FC1AF-ACE3-4A10-8818-41E0D35941F8}">
      <dgm:prSet/>
      <dgm:spPr/>
      <dgm:t>
        <a:bodyPr/>
        <a:lstStyle/>
        <a:p>
          <a:r>
            <a:rPr lang="en-US"/>
            <a:t>Identity – Identity management, authentication and authorization.</a:t>
          </a:r>
        </a:p>
      </dgm:t>
    </dgm:pt>
    <dgm:pt modelId="{8DCE187A-2509-498D-9E0F-6FD2A5AFD535}" type="parTrans" cxnId="{D9F97506-97CD-4CCD-83A1-9395C22B4FFF}">
      <dgm:prSet/>
      <dgm:spPr/>
      <dgm:t>
        <a:bodyPr/>
        <a:lstStyle/>
        <a:p>
          <a:endParaRPr lang="en-US"/>
        </a:p>
      </dgm:t>
    </dgm:pt>
    <dgm:pt modelId="{B302F2E3-B320-418A-99BA-42965902E09D}" type="sibTrans" cxnId="{D9F97506-97CD-4CCD-83A1-9395C22B4FFF}">
      <dgm:prSet/>
      <dgm:spPr/>
      <dgm:t>
        <a:bodyPr/>
        <a:lstStyle/>
        <a:p>
          <a:endParaRPr lang="en-US"/>
        </a:p>
      </dgm:t>
    </dgm:pt>
    <dgm:pt modelId="{9A5D8B17-7372-4808-9483-B71F5D23832B}">
      <dgm:prSet/>
      <dgm:spPr/>
      <dgm:t>
        <a:bodyPr/>
        <a:lstStyle/>
        <a:p>
          <a:r>
            <a:rPr lang="en-US"/>
            <a:t>Device – securing endpoints and managing trust with them.</a:t>
          </a:r>
        </a:p>
      </dgm:t>
    </dgm:pt>
    <dgm:pt modelId="{E3931285-6CC7-4E25-AEBD-1E3A74394C86}" type="parTrans" cxnId="{E91BBF66-FDFD-40D4-B94B-56226029C353}">
      <dgm:prSet/>
      <dgm:spPr/>
      <dgm:t>
        <a:bodyPr/>
        <a:lstStyle/>
        <a:p>
          <a:endParaRPr lang="en-US"/>
        </a:p>
      </dgm:t>
    </dgm:pt>
    <dgm:pt modelId="{0F2A4D4F-CBD7-4771-910F-C8EF56FEF467}" type="sibTrans" cxnId="{E91BBF66-FDFD-40D4-B94B-56226029C353}">
      <dgm:prSet/>
      <dgm:spPr/>
      <dgm:t>
        <a:bodyPr/>
        <a:lstStyle/>
        <a:p>
          <a:endParaRPr lang="en-US"/>
        </a:p>
      </dgm:t>
    </dgm:pt>
    <dgm:pt modelId="{C65A4E0C-8F32-4DD5-9806-428E450BFF81}">
      <dgm:prSet/>
      <dgm:spPr/>
      <dgm:t>
        <a:bodyPr/>
        <a:lstStyle/>
        <a:p>
          <a:r>
            <a:rPr lang="en-US"/>
            <a:t>Network/Environment – Network segmentation and visibility.</a:t>
          </a:r>
        </a:p>
      </dgm:t>
    </dgm:pt>
    <dgm:pt modelId="{D0AAEC8A-37B4-44B1-8160-3D8A1BDB7F7A}" type="parTrans" cxnId="{AF78E36D-9E14-4F6E-827A-505AD7326ACA}">
      <dgm:prSet/>
      <dgm:spPr/>
      <dgm:t>
        <a:bodyPr/>
        <a:lstStyle/>
        <a:p>
          <a:endParaRPr lang="en-US"/>
        </a:p>
      </dgm:t>
    </dgm:pt>
    <dgm:pt modelId="{B1977F4C-3885-479F-97D7-E8DBA7381300}" type="sibTrans" cxnId="{AF78E36D-9E14-4F6E-827A-505AD7326ACA}">
      <dgm:prSet/>
      <dgm:spPr/>
      <dgm:t>
        <a:bodyPr/>
        <a:lstStyle/>
        <a:p>
          <a:endParaRPr lang="en-US"/>
        </a:p>
      </dgm:t>
    </dgm:pt>
    <dgm:pt modelId="{7D8EAF12-49A6-43DF-A681-E0520CB68CCE}">
      <dgm:prSet/>
      <dgm:spPr/>
      <dgm:t>
        <a:bodyPr/>
        <a:lstStyle/>
        <a:p>
          <a:r>
            <a:rPr lang="en-US"/>
            <a:t>Application/Workload – Secure applications, APIs, and workloads.</a:t>
          </a:r>
        </a:p>
      </dgm:t>
    </dgm:pt>
    <dgm:pt modelId="{C8A3DDEF-282A-4606-AC85-EF3D1DF84DBD}" type="parTrans" cxnId="{9D041B11-A1E4-4EEF-9829-CD5E22B071AB}">
      <dgm:prSet/>
      <dgm:spPr/>
      <dgm:t>
        <a:bodyPr/>
        <a:lstStyle/>
        <a:p>
          <a:endParaRPr lang="en-US"/>
        </a:p>
      </dgm:t>
    </dgm:pt>
    <dgm:pt modelId="{658FE190-0466-40B7-99C2-FFDD6F0B103B}" type="sibTrans" cxnId="{9D041B11-A1E4-4EEF-9829-CD5E22B071AB}">
      <dgm:prSet/>
      <dgm:spPr/>
      <dgm:t>
        <a:bodyPr/>
        <a:lstStyle/>
        <a:p>
          <a:endParaRPr lang="en-US"/>
        </a:p>
      </dgm:t>
    </dgm:pt>
    <dgm:pt modelId="{6BFCC600-F431-45BE-8D57-56C9960E79B8}">
      <dgm:prSet/>
      <dgm:spPr/>
      <dgm:t>
        <a:bodyPr/>
        <a:lstStyle/>
        <a:p>
          <a:r>
            <a:rPr lang="en-US"/>
            <a:t>Data – Protecting sensitive data via classification, encryption, and access control.</a:t>
          </a:r>
        </a:p>
      </dgm:t>
    </dgm:pt>
    <dgm:pt modelId="{7A7438C3-9F66-43A0-8B9F-762D5A7C5973}" type="parTrans" cxnId="{135C496A-8D6E-4BE9-B299-9F81A1E4F2C0}">
      <dgm:prSet/>
      <dgm:spPr/>
      <dgm:t>
        <a:bodyPr/>
        <a:lstStyle/>
        <a:p>
          <a:endParaRPr lang="en-US"/>
        </a:p>
      </dgm:t>
    </dgm:pt>
    <dgm:pt modelId="{E075B89E-3DCD-4659-ABDD-1426AA22A158}" type="sibTrans" cxnId="{135C496A-8D6E-4BE9-B299-9F81A1E4F2C0}">
      <dgm:prSet/>
      <dgm:spPr/>
      <dgm:t>
        <a:bodyPr/>
        <a:lstStyle/>
        <a:p>
          <a:endParaRPr lang="en-US"/>
        </a:p>
      </dgm:t>
    </dgm:pt>
    <dgm:pt modelId="{6D8E5331-87A5-4810-B661-AF3A8D3F8E14}">
      <dgm:prSet/>
      <dgm:spPr/>
      <dgm:t>
        <a:bodyPr/>
        <a:lstStyle/>
        <a:p>
          <a:r>
            <a:rPr lang="en-US"/>
            <a:t>Visibility and Analytics – Visibility into their network, devices, and user behavior.</a:t>
          </a:r>
        </a:p>
      </dgm:t>
    </dgm:pt>
    <dgm:pt modelId="{E7D70E85-4389-46F0-81ED-68D03A245A40}" type="parTrans" cxnId="{FEA45B7B-2395-491E-9E2C-8F57A6FD805A}">
      <dgm:prSet/>
      <dgm:spPr/>
      <dgm:t>
        <a:bodyPr/>
        <a:lstStyle/>
        <a:p>
          <a:endParaRPr lang="en-US"/>
        </a:p>
      </dgm:t>
    </dgm:pt>
    <dgm:pt modelId="{E28BE609-078F-4AA9-A186-4C1EE802436D}" type="sibTrans" cxnId="{FEA45B7B-2395-491E-9E2C-8F57A6FD805A}">
      <dgm:prSet/>
      <dgm:spPr/>
      <dgm:t>
        <a:bodyPr/>
        <a:lstStyle/>
        <a:p>
          <a:endParaRPr lang="en-US"/>
        </a:p>
      </dgm:t>
    </dgm:pt>
    <dgm:pt modelId="{D68EFFEB-3DB7-4BDD-9F97-EE81D9E2AEA8}">
      <dgm:prSet/>
      <dgm:spPr/>
      <dgm:t>
        <a:bodyPr/>
        <a:lstStyle/>
        <a:p>
          <a:r>
            <a:rPr lang="en-US"/>
            <a:t>Automation and Orchestration – streamlining security processes and coordinating responses to security incidents.</a:t>
          </a:r>
        </a:p>
      </dgm:t>
    </dgm:pt>
    <dgm:pt modelId="{D17650B5-009C-4B1E-BCEE-A845843C87E8}" type="parTrans" cxnId="{1DD64960-1884-4DE7-9D1C-8B7D21EF2B07}">
      <dgm:prSet/>
      <dgm:spPr/>
      <dgm:t>
        <a:bodyPr/>
        <a:lstStyle/>
        <a:p>
          <a:endParaRPr lang="en-US"/>
        </a:p>
      </dgm:t>
    </dgm:pt>
    <dgm:pt modelId="{63407384-F4CC-44E6-9AB9-EB56FDAD0777}" type="sibTrans" cxnId="{1DD64960-1884-4DE7-9D1C-8B7D21EF2B07}">
      <dgm:prSet/>
      <dgm:spPr/>
      <dgm:t>
        <a:bodyPr/>
        <a:lstStyle/>
        <a:p>
          <a:endParaRPr lang="en-US"/>
        </a:p>
      </dgm:t>
    </dgm:pt>
    <dgm:pt modelId="{911D3C50-0603-46FB-A3C0-2D68A648ED83}">
      <dgm:prSet/>
      <dgm:spPr/>
      <dgm:t>
        <a:bodyPr/>
        <a:lstStyle/>
        <a:p>
          <a:r>
            <a:rPr lang="en-US"/>
            <a:t>(Ajish, 2024, pg.4)</a:t>
          </a:r>
        </a:p>
      </dgm:t>
    </dgm:pt>
    <dgm:pt modelId="{0D3D590D-67CE-4099-8285-B2E24D0F904C}" type="parTrans" cxnId="{AE148CAC-4458-4C4D-BB34-B15FF2BB9988}">
      <dgm:prSet/>
      <dgm:spPr/>
      <dgm:t>
        <a:bodyPr/>
        <a:lstStyle/>
        <a:p>
          <a:endParaRPr lang="en-US"/>
        </a:p>
      </dgm:t>
    </dgm:pt>
    <dgm:pt modelId="{2C75F0F4-698E-47C8-B542-E6DA16C3CB2E}" type="sibTrans" cxnId="{AE148CAC-4458-4C4D-BB34-B15FF2BB9988}">
      <dgm:prSet/>
      <dgm:spPr/>
      <dgm:t>
        <a:bodyPr/>
        <a:lstStyle/>
        <a:p>
          <a:endParaRPr lang="en-US"/>
        </a:p>
      </dgm:t>
    </dgm:pt>
    <dgm:pt modelId="{4EDFC45E-D99B-40F6-BC9E-20561CBB1E63}" type="pres">
      <dgm:prSet presAssocID="{9F307F57-F24D-45F5-9271-365705254DED}" presName="linear" presStyleCnt="0">
        <dgm:presLayoutVars>
          <dgm:animLvl val="lvl"/>
          <dgm:resizeHandles val="exact"/>
        </dgm:presLayoutVars>
      </dgm:prSet>
      <dgm:spPr/>
    </dgm:pt>
    <dgm:pt modelId="{4AF6CF06-B51A-41C2-92D8-BE6E9A4417A6}" type="pres">
      <dgm:prSet presAssocID="{110FC1AF-ACE3-4A10-8818-41E0D35941F8}" presName="parentText" presStyleLbl="node1" presStyleIdx="0" presStyleCnt="8">
        <dgm:presLayoutVars>
          <dgm:chMax val="0"/>
          <dgm:bulletEnabled val="1"/>
        </dgm:presLayoutVars>
      </dgm:prSet>
      <dgm:spPr/>
    </dgm:pt>
    <dgm:pt modelId="{03F6013C-8D8F-436A-A815-DFF387AF6137}" type="pres">
      <dgm:prSet presAssocID="{B302F2E3-B320-418A-99BA-42965902E09D}" presName="spacer" presStyleCnt="0"/>
      <dgm:spPr/>
    </dgm:pt>
    <dgm:pt modelId="{446FD119-F0F9-455C-A534-54891BCA9B4A}" type="pres">
      <dgm:prSet presAssocID="{9A5D8B17-7372-4808-9483-B71F5D23832B}" presName="parentText" presStyleLbl="node1" presStyleIdx="1" presStyleCnt="8">
        <dgm:presLayoutVars>
          <dgm:chMax val="0"/>
          <dgm:bulletEnabled val="1"/>
        </dgm:presLayoutVars>
      </dgm:prSet>
      <dgm:spPr/>
    </dgm:pt>
    <dgm:pt modelId="{98F12AEB-758B-4FCD-BDCC-20B2677E1167}" type="pres">
      <dgm:prSet presAssocID="{0F2A4D4F-CBD7-4771-910F-C8EF56FEF467}" presName="spacer" presStyleCnt="0"/>
      <dgm:spPr/>
    </dgm:pt>
    <dgm:pt modelId="{7EB83FA2-6A16-4520-A51B-EA121674B101}" type="pres">
      <dgm:prSet presAssocID="{C65A4E0C-8F32-4DD5-9806-428E450BFF81}" presName="parentText" presStyleLbl="node1" presStyleIdx="2" presStyleCnt="8">
        <dgm:presLayoutVars>
          <dgm:chMax val="0"/>
          <dgm:bulletEnabled val="1"/>
        </dgm:presLayoutVars>
      </dgm:prSet>
      <dgm:spPr/>
    </dgm:pt>
    <dgm:pt modelId="{93342947-4560-4356-9579-0ADC2DF17D7F}" type="pres">
      <dgm:prSet presAssocID="{B1977F4C-3885-479F-97D7-E8DBA7381300}" presName="spacer" presStyleCnt="0"/>
      <dgm:spPr/>
    </dgm:pt>
    <dgm:pt modelId="{99F96F67-1309-4B23-9A38-F9FFC9D5DFC8}" type="pres">
      <dgm:prSet presAssocID="{7D8EAF12-49A6-43DF-A681-E0520CB68CCE}" presName="parentText" presStyleLbl="node1" presStyleIdx="3" presStyleCnt="8">
        <dgm:presLayoutVars>
          <dgm:chMax val="0"/>
          <dgm:bulletEnabled val="1"/>
        </dgm:presLayoutVars>
      </dgm:prSet>
      <dgm:spPr/>
    </dgm:pt>
    <dgm:pt modelId="{47966C9C-8611-4183-89C5-7729E6486102}" type="pres">
      <dgm:prSet presAssocID="{658FE190-0466-40B7-99C2-FFDD6F0B103B}" presName="spacer" presStyleCnt="0"/>
      <dgm:spPr/>
    </dgm:pt>
    <dgm:pt modelId="{4CC14C6F-8317-4202-94B2-6974C1274D68}" type="pres">
      <dgm:prSet presAssocID="{6BFCC600-F431-45BE-8D57-56C9960E79B8}" presName="parentText" presStyleLbl="node1" presStyleIdx="4" presStyleCnt="8">
        <dgm:presLayoutVars>
          <dgm:chMax val="0"/>
          <dgm:bulletEnabled val="1"/>
        </dgm:presLayoutVars>
      </dgm:prSet>
      <dgm:spPr/>
    </dgm:pt>
    <dgm:pt modelId="{CCE40DCC-AD5A-484A-8489-BED652EEE77B}" type="pres">
      <dgm:prSet presAssocID="{E075B89E-3DCD-4659-ABDD-1426AA22A158}" presName="spacer" presStyleCnt="0"/>
      <dgm:spPr/>
    </dgm:pt>
    <dgm:pt modelId="{4193858E-B300-4029-ADB8-B88CC1EE11E2}" type="pres">
      <dgm:prSet presAssocID="{6D8E5331-87A5-4810-B661-AF3A8D3F8E14}" presName="parentText" presStyleLbl="node1" presStyleIdx="5" presStyleCnt="8">
        <dgm:presLayoutVars>
          <dgm:chMax val="0"/>
          <dgm:bulletEnabled val="1"/>
        </dgm:presLayoutVars>
      </dgm:prSet>
      <dgm:spPr/>
    </dgm:pt>
    <dgm:pt modelId="{5F2B7EDE-28AA-4552-89F9-D9D3647E1C34}" type="pres">
      <dgm:prSet presAssocID="{E28BE609-078F-4AA9-A186-4C1EE802436D}" presName="spacer" presStyleCnt="0"/>
      <dgm:spPr/>
    </dgm:pt>
    <dgm:pt modelId="{98CA9937-C12F-4109-A4FB-5EB95C83E66B}" type="pres">
      <dgm:prSet presAssocID="{D68EFFEB-3DB7-4BDD-9F97-EE81D9E2AEA8}" presName="parentText" presStyleLbl="node1" presStyleIdx="6" presStyleCnt="8">
        <dgm:presLayoutVars>
          <dgm:chMax val="0"/>
          <dgm:bulletEnabled val="1"/>
        </dgm:presLayoutVars>
      </dgm:prSet>
      <dgm:spPr/>
    </dgm:pt>
    <dgm:pt modelId="{D6CE7B14-4E0C-4197-93C8-9410E74BBC13}" type="pres">
      <dgm:prSet presAssocID="{63407384-F4CC-44E6-9AB9-EB56FDAD0777}" presName="spacer" presStyleCnt="0"/>
      <dgm:spPr/>
    </dgm:pt>
    <dgm:pt modelId="{A61A9D4D-160F-41A2-B2A5-779E95064FC6}" type="pres">
      <dgm:prSet presAssocID="{911D3C50-0603-46FB-A3C0-2D68A648ED83}" presName="parentText" presStyleLbl="node1" presStyleIdx="7" presStyleCnt="8">
        <dgm:presLayoutVars>
          <dgm:chMax val="0"/>
          <dgm:bulletEnabled val="1"/>
        </dgm:presLayoutVars>
      </dgm:prSet>
      <dgm:spPr/>
    </dgm:pt>
  </dgm:ptLst>
  <dgm:cxnLst>
    <dgm:cxn modelId="{40A97305-A100-4FED-9DC7-AF24D2D1E9AD}" type="presOf" srcId="{6BFCC600-F431-45BE-8D57-56C9960E79B8}" destId="{4CC14C6F-8317-4202-94B2-6974C1274D68}" srcOrd="0" destOrd="0" presId="urn:microsoft.com/office/officeart/2005/8/layout/vList2"/>
    <dgm:cxn modelId="{D9F97506-97CD-4CCD-83A1-9395C22B4FFF}" srcId="{9F307F57-F24D-45F5-9271-365705254DED}" destId="{110FC1AF-ACE3-4A10-8818-41E0D35941F8}" srcOrd="0" destOrd="0" parTransId="{8DCE187A-2509-498D-9E0F-6FD2A5AFD535}" sibTransId="{B302F2E3-B320-418A-99BA-42965902E09D}"/>
    <dgm:cxn modelId="{5510FD0C-D033-4D1A-946B-C95262BC0264}" type="presOf" srcId="{7D8EAF12-49A6-43DF-A681-E0520CB68CCE}" destId="{99F96F67-1309-4B23-9A38-F9FFC9D5DFC8}" srcOrd="0" destOrd="0" presId="urn:microsoft.com/office/officeart/2005/8/layout/vList2"/>
    <dgm:cxn modelId="{9D041B11-A1E4-4EEF-9829-CD5E22B071AB}" srcId="{9F307F57-F24D-45F5-9271-365705254DED}" destId="{7D8EAF12-49A6-43DF-A681-E0520CB68CCE}" srcOrd="3" destOrd="0" parTransId="{C8A3DDEF-282A-4606-AC85-EF3D1DF84DBD}" sibTransId="{658FE190-0466-40B7-99C2-FFDD6F0B103B}"/>
    <dgm:cxn modelId="{1DD64960-1884-4DE7-9D1C-8B7D21EF2B07}" srcId="{9F307F57-F24D-45F5-9271-365705254DED}" destId="{D68EFFEB-3DB7-4BDD-9F97-EE81D9E2AEA8}" srcOrd="6" destOrd="0" parTransId="{D17650B5-009C-4B1E-BCEE-A845843C87E8}" sibTransId="{63407384-F4CC-44E6-9AB9-EB56FDAD0777}"/>
    <dgm:cxn modelId="{E91BBF66-FDFD-40D4-B94B-56226029C353}" srcId="{9F307F57-F24D-45F5-9271-365705254DED}" destId="{9A5D8B17-7372-4808-9483-B71F5D23832B}" srcOrd="1" destOrd="0" parTransId="{E3931285-6CC7-4E25-AEBD-1E3A74394C86}" sibTransId="{0F2A4D4F-CBD7-4771-910F-C8EF56FEF467}"/>
    <dgm:cxn modelId="{135C496A-8D6E-4BE9-B299-9F81A1E4F2C0}" srcId="{9F307F57-F24D-45F5-9271-365705254DED}" destId="{6BFCC600-F431-45BE-8D57-56C9960E79B8}" srcOrd="4" destOrd="0" parTransId="{7A7438C3-9F66-43A0-8B9F-762D5A7C5973}" sibTransId="{E075B89E-3DCD-4659-ABDD-1426AA22A158}"/>
    <dgm:cxn modelId="{AF78E36D-9E14-4F6E-827A-505AD7326ACA}" srcId="{9F307F57-F24D-45F5-9271-365705254DED}" destId="{C65A4E0C-8F32-4DD5-9806-428E450BFF81}" srcOrd="2" destOrd="0" parTransId="{D0AAEC8A-37B4-44B1-8160-3D8A1BDB7F7A}" sibTransId="{B1977F4C-3885-479F-97D7-E8DBA7381300}"/>
    <dgm:cxn modelId="{0A036570-326B-460C-A67F-11D8AB4379B8}" type="presOf" srcId="{D68EFFEB-3DB7-4BDD-9F97-EE81D9E2AEA8}" destId="{98CA9937-C12F-4109-A4FB-5EB95C83E66B}" srcOrd="0" destOrd="0" presId="urn:microsoft.com/office/officeart/2005/8/layout/vList2"/>
    <dgm:cxn modelId="{9487D257-1BAA-49A8-B26E-B1A624C05782}" type="presOf" srcId="{9A5D8B17-7372-4808-9483-B71F5D23832B}" destId="{446FD119-F0F9-455C-A534-54891BCA9B4A}" srcOrd="0" destOrd="0" presId="urn:microsoft.com/office/officeart/2005/8/layout/vList2"/>
    <dgm:cxn modelId="{FEA45B7B-2395-491E-9E2C-8F57A6FD805A}" srcId="{9F307F57-F24D-45F5-9271-365705254DED}" destId="{6D8E5331-87A5-4810-B661-AF3A8D3F8E14}" srcOrd="5" destOrd="0" parTransId="{E7D70E85-4389-46F0-81ED-68D03A245A40}" sibTransId="{E28BE609-078F-4AA9-A186-4C1EE802436D}"/>
    <dgm:cxn modelId="{AE148CAC-4458-4C4D-BB34-B15FF2BB9988}" srcId="{9F307F57-F24D-45F5-9271-365705254DED}" destId="{911D3C50-0603-46FB-A3C0-2D68A648ED83}" srcOrd="7" destOrd="0" parTransId="{0D3D590D-67CE-4099-8285-B2E24D0F904C}" sibTransId="{2C75F0F4-698E-47C8-B542-E6DA16C3CB2E}"/>
    <dgm:cxn modelId="{BE931EB6-976C-40A6-B41F-460856752201}" type="presOf" srcId="{9F307F57-F24D-45F5-9271-365705254DED}" destId="{4EDFC45E-D99B-40F6-BC9E-20561CBB1E63}" srcOrd="0" destOrd="0" presId="urn:microsoft.com/office/officeart/2005/8/layout/vList2"/>
    <dgm:cxn modelId="{B8793ECB-C912-4A8C-9FCE-54F7360B1A7A}" type="presOf" srcId="{911D3C50-0603-46FB-A3C0-2D68A648ED83}" destId="{A61A9D4D-160F-41A2-B2A5-779E95064FC6}" srcOrd="0" destOrd="0" presId="urn:microsoft.com/office/officeart/2005/8/layout/vList2"/>
    <dgm:cxn modelId="{BB99ADCE-A720-49FE-8EFA-D9EB2FFDAFDE}" type="presOf" srcId="{C65A4E0C-8F32-4DD5-9806-428E450BFF81}" destId="{7EB83FA2-6A16-4520-A51B-EA121674B101}" srcOrd="0" destOrd="0" presId="urn:microsoft.com/office/officeart/2005/8/layout/vList2"/>
    <dgm:cxn modelId="{B4EEC8D8-EA0C-4AF8-9D60-887A590DC117}" type="presOf" srcId="{110FC1AF-ACE3-4A10-8818-41E0D35941F8}" destId="{4AF6CF06-B51A-41C2-92D8-BE6E9A4417A6}" srcOrd="0" destOrd="0" presId="urn:microsoft.com/office/officeart/2005/8/layout/vList2"/>
    <dgm:cxn modelId="{3E8CE9DD-7124-4033-8F7C-744F48EA7406}" type="presOf" srcId="{6D8E5331-87A5-4810-B661-AF3A8D3F8E14}" destId="{4193858E-B300-4029-ADB8-B88CC1EE11E2}" srcOrd="0" destOrd="0" presId="urn:microsoft.com/office/officeart/2005/8/layout/vList2"/>
    <dgm:cxn modelId="{10E1F596-ABE2-41E7-B8D2-D352049D3EA6}" type="presParOf" srcId="{4EDFC45E-D99B-40F6-BC9E-20561CBB1E63}" destId="{4AF6CF06-B51A-41C2-92D8-BE6E9A4417A6}" srcOrd="0" destOrd="0" presId="urn:microsoft.com/office/officeart/2005/8/layout/vList2"/>
    <dgm:cxn modelId="{BD288006-0891-4C0F-B4E6-927427C286A2}" type="presParOf" srcId="{4EDFC45E-D99B-40F6-BC9E-20561CBB1E63}" destId="{03F6013C-8D8F-436A-A815-DFF387AF6137}" srcOrd="1" destOrd="0" presId="urn:microsoft.com/office/officeart/2005/8/layout/vList2"/>
    <dgm:cxn modelId="{A8D65542-6AC2-408C-BF2B-2027E40B18A9}" type="presParOf" srcId="{4EDFC45E-D99B-40F6-BC9E-20561CBB1E63}" destId="{446FD119-F0F9-455C-A534-54891BCA9B4A}" srcOrd="2" destOrd="0" presId="urn:microsoft.com/office/officeart/2005/8/layout/vList2"/>
    <dgm:cxn modelId="{913589E2-DE78-47F8-9166-759CD16F7339}" type="presParOf" srcId="{4EDFC45E-D99B-40F6-BC9E-20561CBB1E63}" destId="{98F12AEB-758B-4FCD-BDCC-20B2677E1167}" srcOrd="3" destOrd="0" presId="urn:microsoft.com/office/officeart/2005/8/layout/vList2"/>
    <dgm:cxn modelId="{CE32873B-13BC-4551-8C04-303A2B8DE631}" type="presParOf" srcId="{4EDFC45E-D99B-40F6-BC9E-20561CBB1E63}" destId="{7EB83FA2-6A16-4520-A51B-EA121674B101}" srcOrd="4" destOrd="0" presId="urn:microsoft.com/office/officeart/2005/8/layout/vList2"/>
    <dgm:cxn modelId="{9A88606B-DFE7-4C5A-BE66-B0F151BF13E8}" type="presParOf" srcId="{4EDFC45E-D99B-40F6-BC9E-20561CBB1E63}" destId="{93342947-4560-4356-9579-0ADC2DF17D7F}" srcOrd="5" destOrd="0" presId="urn:microsoft.com/office/officeart/2005/8/layout/vList2"/>
    <dgm:cxn modelId="{CA85496C-E5E9-4FFE-B0AC-31D017C5BCF5}" type="presParOf" srcId="{4EDFC45E-D99B-40F6-BC9E-20561CBB1E63}" destId="{99F96F67-1309-4B23-9A38-F9FFC9D5DFC8}" srcOrd="6" destOrd="0" presId="urn:microsoft.com/office/officeart/2005/8/layout/vList2"/>
    <dgm:cxn modelId="{6A56948B-00BA-4AC9-A6F7-E4DF457FEBD9}" type="presParOf" srcId="{4EDFC45E-D99B-40F6-BC9E-20561CBB1E63}" destId="{47966C9C-8611-4183-89C5-7729E6486102}" srcOrd="7" destOrd="0" presId="urn:microsoft.com/office/officeart/2005/8/layout/vList2"/>
    <dgm:cxn modelId="{949BD0A9-6DC1-46C5-9AF3-ED9C7CFD8A9E}" type="presParOf" srcId="{4EDFC45E-D99B-40F6-BC9E-20561CBB1E63}" destId="{4CC14C6F-8317-4202-94B2-6974C1274D68}" srcOrd="8" destOrd="0" presId="urn:microsoft.com/office/officeart/2005/8/layout/vList2"/>
    <dgm:cxn modelId="{74B5E424-B3F5-48CC-AA61-618959B9335F}" type="presParOf" srcId="{4EDFC45E-D99B-40F6-BC9E-20561CBB1E63}" destId="{CCE40DCC-AD5A-484A-8489-BED652EEE77B}" srcOrd="9" destOrd="0" presId="urn:microsoft.com/office/officeart/2005/8/layout/vList2"/>
    <dgm:cxn modelId="{86185EF5-5EFC-4E42-94EE-B5E1FC44271B}" type="presParOf" srcId="{4EDFC45E-D99B-40F6-BC9E-20561CBB1E63}" destId="{4193858E-B300-4029-ADB8-B88CC1EE11E2}" srcOrd="10" destOrd="0" presId="urn:microsoft.com/office/officeart/2005/8/layout/vList2"/>
    <dgm:cxn modelId="{88A0FC4A-FE1E-46BA-B2C1-800E967B7205}" type="presParOf" srcId="{4EDFC45E-D99B-40F6-BC9E-20561CBB1E63}" destId="{5F2B7EDE-28AA-4552-89F9-D9D3647E1C34}" srcOrd="11" destOrd="0" presId="urn:microsoft.com/office/officeart/2005/8/layout/vList2"/>
    <dgm:cxn modelId="{365979B3-8982-44C4-8AC5-670059B9AEE7}" type="presParOf" srcId="{4EDFC45E-D99B-40F6-BC9E-20561CBB1E63}" destId="{98CA9937-C12F-4109-A4FB-5EB95C83E66B}" srcOrd="12" destOrd="0" presId="urn:microsoft.com/office/officeart/2005/8/layout/vList2"/>
    <dgm:cxn modelId="{B24C08E0-F837-4BA8-955C-76207D646B84}" type="presParOf" srcId="{4EDFC45E-D99B-40F6-BC9E-20561CBB1E63}" destId="{D6CE7B14-4E0C-4197-93C8-9410E74BBC13}" srcOrd="13" destOrd="0" presId="urn:microsoft.com/office/officeart/2005/8/layout/vList2"/>
    <dgm:cxn modelId="{C1BDC802-8371-4B23-9A79-B46979F231AA}" type="presParOf" srcId="{4EDFC45E-D99B-40F6-BC9E-20561CBB1E63}" destId="{A61A9D4D-160F-41A2-B2A5-779E95064FC6}" srcOrd="1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EF8F44-7A46-4BF1-93BB-30421CA0BD8A}"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AAFBC22-39BB-40C1-A3A1-71C4F50ED257}">
      <dgm:prSet/>
      <dgm:spPr/>
      <dgm:t>
        <a:bodyPr/>
        <a:lstStyle/>
        <a:p>
          <a:r>
            <a:rPr lang="en-US"/>
            <a:t>These types of attacks mean that many customers of Oracle products can have bugs released by Oracle for the SaaS exploited like the attack type “Tokenchpoken” amongst other internal and external attack vectors. (Tyurin, 2018, slide 68)</a:t>
          </a:r>
        </a:p>
      </dgm:t>
    </dgm:pt>
    <dgm:pt modelId="{98C06276-BE87-4C13-BDE4-6CDE13371F51}" type="parTrans" cxnId="{2B4CC5FD-AE23-4A8C-BBE9-360F567C1118}">
      <dgm:prSet/>
      <dgm:spPr/>
      <dgm:t>
        <a:bodyPr/>
        <a:lstStyle/>
        <a:p>
          <a:endParaRPr lang="en-US"/>
        </a:p>
      </dgm:t>
    </dgm:pt>
    <dgm:pt modelId="{77D7AFB5-5D61-4E1B-9BBE-2FB65415714B}" type="sibTrans" cxnId="{2B4CC5FD-AE23-4A8C-BBE9-360F567C1118}">
      <dgm:prSet/>
      <dgm:spPr/>
      <dgm:t>
        <a:bodyPr/>
        <a:lstStyle/>
        <a:p>
          <a:endParaRPr lang="en-US"/>
        </a:p>
      </dgm:t>
    </dgm:pt>
    <dgm:pt modelId="{5765C09F-6041-4071-8178-7E0DE1B36CEB}">
      <dgm:prSet/>
      <dgm:spPr/>
      <dgm:t>
        <a:bodyPr/>
        <a:lstStyle/>
        <a:p>
          <a:r>
            <a:rPr lang="en-US"/>
            <a:t>For this reason and more, the University of North Texas has transitioned to a Zero Trust Architecture to protect data and enhance security, especially as the university supports work-from-home, contractors, and remote access.</a:t>
          </a:r>
        </a:p>
      </dgm:t>
    </dgm:pt>
    <dgm:pt modelId="{9A327055-2A9B-4298-ABB3-B63DB8B64378}" type="parTrans" cxnId="{66B557F0-9749-4FB7-B741-60FBB0F884C1}">
      <dgm:prSet/>
      <dgm:spPr/>
      <dgm:t>
        <a:bodyPr/>
        <a:lstStyle/>
        <a:p>
          <a:endParaRPr lang="en-US"/>
        </a:p>
      </dgm:t>
    </dgm:pt>
    <dgm:pt modelId="{EDAF7D50-B005-4372-9B49-964481D9E517}" type="sibTrans" cxnId="{66B557F0-9749-4FB7-B741-60FBB0F884C1}">
      <dgm:prSet/>
      <dgm:spPr/>
      <dgm:t>
        <a:bodyPr/>
        <a:lstStyle/>
        <a:p>
          <a:endParaRPr lang="en-US"/>
        </a:p>
      </dgm:t>
    </dgm:pt>
    <dgm:pt modelId="{F6C10E8A-74B4-4238-8B06-C64CEB448EDD}" type="pres">
      <dgm:prSet presAssocID="{BAEF8F44-7A46-4BF1-93BB-30421CA0BD8A}" presName="hierChild1" presStyleCnt="0">
        <dgm:presLayoutVars>
          <dgm:chPref val="1"/>
          <dgm:dir/>
          <dgm:animOne val="branch"/>
          <dgm:animLvl val="lvl"/>
          <dgm:resizeHandles/>
        </dgm:presLayoutVars>
      </dgm:prSet>
      <dgm:spPr/>
    </dgm:pt>
    <dgm:pt modelId="{5D7F79DA-0898-41BB-9A15-4C3BF4F40CB8}" type="pres">
      <dgm:prSet presAssocID="{1AAFBC22-39BB-40C1-A3A1-71C4F50ED257}" presName="hierRoot1" presStyleCnt="0"/>
      <dgm:spPr/>
    </dgm:pt>
    <dgm:pt modelId="{A28A27F7-45BF-4A73-B938-F71D6238AA34}" type="pres">
      <dgm:prSet presAssocID="{1AAFBC22-39BB-40C1-A3A1-71C4F50ED257}" presName="composite" presStyleCnt="0"/>
      <dgm:spPr/>
    </dgm:pt>
    <dgm:pt modelId="{85CAF478-64D3-46C4-AD76-05694A547056}" type="pres">
      <dgm:prSet presAssocID="{1AAFBC22-39BB-40C1-A3A1-71C4F50ED257}" presName="background" presStyleLbl="node0" presStyleIdx="0" presStyleCnt="2"/>
      <dgm:spPr/>
    </dgm:pt>
    <dgm:pt modelId="{C79056E9-165E-4FF4-BC53-68EDB2280D93}" type="pres">
      <dgm:prSet presAssocID="{1AAFBC22-39BB-40C1-A3A1-71C4F50ED257}" presName="text" presStyleLbl="fgAcc0" presStyleIdx="0" presStyleCnt="2">
        <dgm:presLayoutVars>
          <dgm:chPref val="3"/>
        </dgm:presLayoutVars>
      </dgm:prSet>
      <dgm:spPr/>
    </dgm:pt>
    <dgm:pt modelId="{25866485-3C38-4C1E-A448-15DDC1EDB44E}" type="pres">
      <dgm:prSet presAssocID="{1AAFBC22-39BB-40C1-A3A1-71C4F50ED257}" presName="hierChild2" presStyleCnt="0"/>
      <dgm:spPr/>
    </dgm:pt>
    <dgm:pt modelId="{DD392F45-ED58-4AF9-9AF1-616B43179DB9}" type="pres">
      <dgm:prSet presAssocID="{5765C09F-6041-4071-8178-7E0DE1B36CEB}" presName="hierRoot1" presStyleCnt="0"/>
      <dgm:spPr/>
    </dgm:pt>
    <dgm:pt modelId="{71A79071-D4BB-4D5B-992F-08ED409469DA}" type="pres">
      <dgm:prSet presAssocID="{5765C09F-6041-4071-8178-7E0DE1B36CEB}" presName="composite" presStyleCnt="0"/>
      <dgm:spPr/>
    </dgm:pt>
    <dgm:pt modelId="{4D83E679-5948-4474-998B-4F43CE42EEFE}" type="pres">
      <dgm:prSet presAssocID="{5765C09F-6041-4071-8178-7E0DE1B36CEB}" presName="background" presStyleLbl="node0" presStyleIdx="1" presStyleCnt="2"/>
      <dgm:spPr/>
    </dgm:pt>
    <dgm:pt modelId="{867DB6BC-1DDD-422F-8F24-79CCA3F4576A}" type="pres">
      <dgm:prSet presAssocID="{5765C09F-6041-4071-8178-7E0DE1B36CEB}" presName="text" presStyleLbl="fgAcc0" presStyleIdx="1" presStyleCnt="2">
        <dgm:presLayoutVars>
          <dgm:chPref val="3"/>
        </dgm:presLayoutVars>
      </dgm:prSet>
      <dgm:spPr/>
    </dgm:pt>
    <dgm:pt modelId="{D275E5D0-15F3-403C-BEFC-49249BC0637D}" type="pres">
      <dgm:prSet presAssocID="{5765C09F-6041-4071-8178-7E0DE1B36CEB}" presName="hierChild2" presStyleCnt="0"/>
      <dgm:spPr/>
    </dgm:pt>
  </dgm:ptLst>
  <dgm:cxnLst>
    <dgm:cxn modelId="{4E0488AF-863A-4B7D-9A6D-D6ECD80CA649}" type="presOf" srcId="{5765C09F-6041-4071-8178-7E0DE1B36CEB}" destId="{867DB6BC-1DDD-422F-8F24-79CCA3F4576A}" srcOrd="0" destOrd="0" presId="urn:microsoft.com/office/officeart/2005/8/layout/hierarchy1"/>
    <dgm:cxn modelId="{66B557F0-9749-4FB7-B741-60FBB0F884C1}" srcId="{BAEF8F44-7A46-4BF1-93BB-30421CA0BD8A}" destId="{5765C09F-6041-4071-8178-7E0DE1B36CEB}" srcOrd="1" destOrd="0" parTransId="{9A327055-2A9B-4298-ABB3-B63DB8B64378}" sibTransId="{EDAF7D50-B005-4372-9B49-964481D9E517}"/>
    <dgm:cxn modelId="{FAD247F5-A4D3-427D-A2AA-1BC672BC6428}" type="presOf" srcId="{1AAFBC22-39BB-40C1-A3A1-71C4F50ED257}" destId="{C79056E9-165E-4FF4-BC53-68EDB2280D93}" srcOrd="0" destOrd="0" presId="urn:microsoft.com/office/officeart/2005/8/layout/hierarchy1"/>
    <dgm:cxn modelId="{59ED86F9-1AB0-4BB8-ADB1-C29F231D1C9B}" type="presOf" srcId="{BAEF8F44-7A46-4BF1-93BB-30421CA0BD8A}" destId="{F6C10E8A-74B4-4238-8B06-C64CEB448EDD}" srcOrd="0" destOrd="0" presId="urn:microsoft.com/office/officeart/2005/8/layout/hierarchy1"/>
    <dgm:cxn modelId="{2B4CC5FD-AE23-4A8C-BBE9-360F567C1118}" srcId="{BAEF8F44-7A46-4BF1-93BB-30421CA0BD8A}" destId="{1AAFBC22-39BB-40C1-A3A1-71C4F50ED257}" srcOrd="0" destOrd="0" parTransId="{98C06276-BE87-4C13-BDE4-6CDE13371F51}" sibTransId="{77D7AFB5-5D61-4E1B-9BBE-2FB65415714B}"/>
    <dgm:cxn modelId="{27C3D12D-6B56-4B4F-8DAE-DC8B6DB854B6}" type="presParOf" srcId="{F6C10E8A-74B4-4238-8B06-C64CEB448EDD}" destId="{5D7F79DA-0898-41BB-9A15-4C3BF4F40CB8}" srcOrd="0" destOrd="0" presId="urn:microsoft.com/office/officeart/2005/8/layout/hierarchy1"/>
    <dgm:cxn modelId="{E3724667-C3DA-4BC5-AAAF-B7863A0FB35B}" type="presParOf" srcId="{5D7F79DA-0898-41BB-9A15-4C3BF4F40CB8}" destId="{A28A27F7-45BF-4A73-B938-F71D6238AA34}" srcOrd="0" destOrd="0" presId="urn:microsoft.com/office/officeart/2005/8/layout/hierarchy1"/>
    <dgm:cxn modelId="{2BDA8687-0E15-4B58-9689-9B70D37C11F9}" type="presParOf" srcId="{A28A27F7-45BF-4A73-B938-F71D6238AA34}" destId="{85CAF478-64D3-46C4-AD76-05694A547056}" srcOrd="0" destOrd="0" presId="urn:microsoft.com/office/officeart/2005/8/layout/hierarchy1"/>
    <dgm:cxn modelId="{F2D33C7F-E57D-46F7-8432-5B19EFC13676}" type="presParOf" srcId="{A28A27F7-45BF-4A73-B938-F71D6238AA34}" destId="{C79056E9-165E-4FF4-BC53-68EDB2280D93}" srcOrd="1" destOrd="0" presId="urn:microsoft.com/office/officeart/2005/8/layout/hierarchy1"/>
    <dgm:cxn modelId="{2B8AA599-0CF4-43AC-AF6D-D830109A3B3F}" type="presParOf" srcId="{5D7F79DA-0898-41BB-9A15-4C3BF4F40CB8}" destId="{25866485-3C38-4C1E-A448-15DDC1EDB44E}" srcOrd="1" destOrd="0" presId="urn:microsoft.com/office/officeart/2005/8/layout/hierarchy1"/>
    <dgm:cxn modelId="{353A9761-6D09-47AF-B2B0-D64FF1BC6089}" type="presParOf" srcId="{F6C10E8A-74B4-4238-8B06-C64CEB448EDD}" destId="{DD392F45-ED58-4AF9-9AF1-616B43179DB9}" srcOrd="1" destOrd="0" presId="urn:microsoft.com/office/officeart/2005/8/layout/hierarchy1"/>
    <dgm:cxn modelId="{A091BD53-8B7A-4256-97EB-26A3FA51A036}" type="presParOf" srcId="{DD392F45-ED58-4AF9-9AF1-616B43179DB9}" destId="{71A79071-D4BB-4D5B-992F-08ED409469DA}" srcOrd="0" destOrd="0" presId="urn:microsoft.com/office/officeart/2005/8/layout/hierarchy1"/>
    <dgm:cxn modelId="{CC6A6D63-C714-420D-B91F-3451A2295AA0}" type="presParOf" srcId="{71A79071-D4BB-4D5B-992F-08ED409469DA}" destId="{4D83E679-5948-4474-998B-4F43CE42EEFE}" srcOrd="0" destOrd="0" presId="urn:microsoft.com/office/officeart/2005/8/layout/hierarchy1"/>
    <dgm:cxn modelId="{1B639A2C-973B-45F8-BC68-4805B3045C78}" type="presParOf" srcId="{71A79071-D4BB-4D5B-992F-08ED409469DA}" destId="{867DB6BC-1DDD-422F-8F24-79CCA3F4576A}" srcOrd="1" destOrd="0" presId="urn:microsoft.com/office/officeart/2005/8/layout/hierarchy1"/>
    <dgm:cxn modelId="{9998FE72-2BFE-4720-A1C8-AC4E555CFE97}" type="presParOf" srcId="{DD392F45-ED58-4AF9-9AF1-616B43179DB9}" destId="{D275E5D0-15F3-403C-BEFC-49249BC0637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05B381-68C2-4756-8658-C91D16F3A3F0}">
      <dsp:nvSpPr>
        <dsp:cNvPr id="0" name=""/>
        <dsp:cNvSpPr/>
      </dsp:nvSpPr>
      <dsp:spPr>
        <a:xfrm>
          <a:off x="0" y="4524"/>
          <a:ext cx="6261100" cy="1349156"/>
        </a:xfrm>
        <a:prstGeom prst="round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Authentication – verifying identities of users, allowing only valid users system access. (Ajish, 2024, pg.7)</a:t>
          </a:r>
        </a:p>
      </dsp:txBody>
      <dsp:txXfrm>
        <a:off x="65860" y="70384"/>
        <a:ext cx="6129380" cy="1217436"/>
      </dsp:txXfrm>
    </dsp:sp>
    <dsp:sp modelId="{0CFE77CC-0A7D-43CE-A9A9-5CBC5A7AEB9B}">
      <dsp:nvSpPr>
        <dsp:cNvPr id="0" name=""/>
        <dsp:cNvSpPr/>
      </dsp:nvSpPr>
      <dsp:spPr>
        <a:xfrm>
          <a:off x="0" y="1411281"/>
          <a:ext cx="6261100" cy="1349156"/>
        </a:xfrm>
        <a:prstGeom prst="roundRect">
          <a:avLst/>
        </a:prstGeom>
        <a:gradFill rotWithShape="0">
          <a:gsLst>
            <a:gs pos="0">
              <a:schemeClr val="accent2">
                <a:hueOff val="1847440"/>
                <a:satOff val="-318"/>
                <a:lumOff val="-3268"/>
                <a:alphaOff val="0"/>
                <a:tint val="94000"/>
                <a:satMod val="103000"/>
                <a:lumMod val="102000"/>
              </a:schemeClr>
            </a:gs>
            <a:gs pos="50000">
              <a:schemeClr val="accent2">
                <a:hueOff val="1847440"/>
                <a:satOff val="-318"/>
                <a:lumOff val="-3268"/>
                <a:alphaOff val="0"/>
                <a:shade val="100000"/>
                <a:satMod val="110000"/>
                <a:lumMod val="100000"/>
              </a:schemeClr>
            </a:gs>
            <a:gs pos="100000">
              <a:schemeClr val="accent2">
                <a:hueOff val="1847440"/>
                <a:satOff val="-318"/>
                <a:lumOff val="-3268"/>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Authorization – the extent to which a user can access a system; permissions and roles that grant access to parts of a system.(Ajish, 2024, pg.9)</a:t>
          </a:r>
        </a:p>
      </dsp:txBody>
      <dsp:txXfrm>
        <a:off x="65860" y="1477141"/>
        <a:ext cx="6129380" cy="1217436"/>
      </dsp:txXfrm>
    </dsp:sp>
    <dsp:sp modelId="{CCA3A29F-D830-481B-9B8E-607595A9B60A}">
      <dsp:nvSpPr>
        <dsp:cNvPr id="0" name=""/>
        <dsp:cNvSpPr/>
      </dsp:nvSpPr>
      <dsp:spPr>
        <a:xfrm>
          <a:off x="0" y="2818037"/>
          <a:ext cx="6261100" cy="1349156"/>
        </a:xfrm>
        <a:prstGeom prst="roundRect">
          <a:avLst/>
        </a:prstGeom>
        <a:gradFill rotWithShape="0">
          <a:gsLst>
            <a:gs pos="0">
              <a:schemeClr val="accent2">
                <a:hueOff val="3694879"/>
                <a:satOff val="-635"/>
                <a:lumOff val="-6536"/>
                <a:alphaOff val="0"/>
                <a:tint val="94000"/>
                <a:satMod val="103000"/>
                <a:lumMod val="102000"/>
              </a:schemeClr>
            </a:gs>
            <a:gs pos="50000">
              <a:schemeClr val="accent2">
                <a:hueOff val="3694879"/>
                <a:satOff val="-635"/>
                <a:lumOff val="-6536"/>
                <a:alphaOff val="0"/>
                <a:shade val="100000"/>
                <a:satMod val="110000"/>
                <a:lumMod val="100000"/>
              </a:schemeClr>
            </a:gs>
            <a:gs pos="100000">
              <a:schemeClr val="accent2">
                <a:hueOff val="3694879"/>
                <a:satOff val="-635"/>
                <a:lumOff val="-6536"/>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Administration – Management of user accounts, roles, access and privileges. (Ajish, 2024, Pg. 10)</a:t>
          </a:r>
        </a:p>
      </dsp:txBody>
      <dsp:txXfrm>
        <a:off x="65860" y="2883897"/>
        <a:ext cx="6129380" cy="1217436"/>
      </dsp:txXfrm>
    </dsp:sp>
    <dsp:sp modelId="{7A89C104-A168-4DA4-B44D-DEF5C2BF7CD2}">
      <dsp:nvSpPr>
        <dsp:cNvPr id="0" name=""/>
        <dsp:cNvSpPr/>
      </dsp:nvSpPr>
      <dsp:spPr>
        <a:xfrm>
          <a:off x="0" y="4224793"/>
          <a:ext cx="6261100" cy="1349156"/>
        </a:xfrm>
        <a:prstGeom prst="roundRect">
          <a:avLst/>
        </a:prstGeom>
        <a:gradFill rotWithShape="0">
          <a:gsLst>
            <a:gs pos="0">
              <a:schemeClr val="accent2">
                <a:hueOff val="5542319"/>
                <a:satOff val="-953"/>
                <a:lumOff val="-9804"/>
                <a:alphaOff val="0"/>
                <a:tint val="94000"/>
                <a:satMod val="103000"/>
                <a:lumMod val="102000"/>
              </a:schemeClr>
            </a:gs>
            <a:gs pos="50000">
              <a:schemeClr val="accent2">
                <a:hueOff val="5542319"/>
                <a:satOff val="-953"/>
                <a:lumOff val="-9804"/>
                <a:alphaOff val="0"/>
                <a:shade val="100000"/>
                <a:satMod val="110000"/>
                <a:lumMod val="100000"/>
              </a:schemeClr>
            </a:gs>
            <a:gs pos="100000">
              <a:schemeClr val="accent2">
                <a:hueOff val="5542319"/>
                <a:satOff val="-953"/>
                <a:lumOff val="-9804"/>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Auditing, governance, and compliance – Monitoring and recording of access events to detect security threats, enforce compliance, and maintain a record of user activities. (Ajish, 2024, pg.11)</a:t>
          </a:r>
        </a:p>
      </dsp:txBody>
      <dsp:txXfrm>
        <a:off x="65860" y="4290653"/>
        <a:ext cx="6129380" cy="1217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F6CF06-B51A-41C2-92D8-BE6E9A4417A6}">
      <dsp:nvSpPr>
        <dsp:cNvPr id="0" name=""/>
        <dsp:cNvSpPr/>
      </dsp:nvSpPr>
      <dsp:spPr>
        <a:xfrm>
          <a:off x="0" y="194357"/>
          <a:ext cx="6261100" cy="608400"/>
        </a:xfrm>
        <a:prstGeom prst="round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Identity – Identity management, authentication and authorization.</a:t>
          </a:r>
        </a:p>
      </dsp:txBody>
      <dsp:txXfrm>
        <a:off x="29700" y="224057"/>
        <a:ext cx="6201700" cy="549000"/>
      </dsp:txXfrm>
    </dsp:sp>
    <dsp:sp modelId="{446FD119-F0F9-455C-A534-54891BCA9B4A}">
      <dsp:nvSpPr>
        <dsp:cNvPr id="0" name=""/>
        <dsp:cNvSpPr/>
      </dsp:nvSpPr>
      <dsp:spPr>
        <a:xfrm>
          <a:off x="0" y="848837"/>
          <a:ext cx="6261100" cy="608400"/>
        </a:xfrm>
        <a:prstGeom prst="roundRect">
          <a:avLst/>
        </a:prstGeom>
        <a:gradFill rotWithShape="0">
          <a:gsLst>
            <a:gs pos="0">
              <a:schemeClr val="accent2">
                <a:hueOff val="791760"/>
                <a:satOff val="-136"/>
                <a:lumOff val="-1401"/>
                <a:alphaOff val="0"/>
                <a:tint val="94000"/>
                <a:satMod val="103000"/>
                <a:lumMod val="102000"/>
              </a:schemeClr>
            </a:gs>
            <a:gs pos="50000">
              <a:schemeClr val="accent2">
                <a:hueOff val="791760"/>
                <a:satOff val="-136"/>
                <a:lumOff val="-1401"/>
                <a:alphaOff val="0"/>
                <a:shade val="100000"/>
                <a:satMod val="110000"/>
                <a:lumMod val="100000"/>
              </a:schemeClr>
            </a:gs>
            <a:gs pos="100000">
              <a:schemeClr val="accent2">
                <a:hueOff val="791760"/>
                <a:satOff val="-136"/>
                <a:lumOff val="-1401"/>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Device – securing endpoints and managing trust with them.</a:t>
          </a:r>
        </a:p>
      </dsp:txBody>
      <dsp:txXfrm>
        <a:off x="29700" y="878537"/>
        <a:ext cx="6201700" cy="549000"/>
      </dsp:txXfrm>
    </dsp:sp>
    <dsp:sp modelId="{7EB83FA2-6A16-4520-A51B-EA121674B101}">
      <dsp:nvSpPr>
        <dsp:cNvPr id="0" name=""/>
        <dsp:cNvSpPr/>
      </dsp:nvSpPr>
      <dsp:spPr>
        <a:xfrm>
          <a:off x="0" y="1503317"/>
          <a:ext cx="6261100" cy="608400"/>
        </a:xfrm>
        <a:prstGeom prst="roundRect">
          <a:avLst/>
        </a:prstGeom>
        <a:gradFill rotWithShape="0">
          <a:gsLst>
            <a:gs pos="0">
              <a:schemeClr val="accent2">
                <a:hueOff val="1583520"/>
                <a:satOff val="-272"/>
                <a:lumOff val="-2801"/>
                <a:alphaOff val="0"/>
                <a:tint val="94000"/>
                <a:satMod val="103000"/>
                <a:lumMod val="102000"/>
              </a:schemeClr>
            </a:gs>
            <a:gs pos="50000">
              <a:schemeClr val="accent2">
                <a:hueOff val="1583520"/>
                <a:satOff val="-272"/>
                <a:lumOff val="-2801"/>
                <a:alphaOff val="0"/>
                <a:shade val="100000"/>
                <a:satMod val="110000"/>
                <a:lumMod val="100000"/>
              </a:schemeClr>
            </a:gs>
            <a:gs pos="100000">
              <a:schemeClr val="accent2">
                <a:hueOff val="1583520"/>
                <a:satOff val="-272"/>
                <a:lumOff val="-2801"/>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Network/Environment – Network segmentation and visibility.</a:t>
          </a:r>
        </a:p>
      </dsp:txBody>
      <dsp:txXfrm>
        <a:off x="29700" y="1533017"/>
        <a:ext cx="6201700" cy="549000"/>
      </dsp:txXfrm>
    </dsp:sp>
    <dsp:sp modelId="{99F96F67-1309-4B23-9A38-F9FFC9D5DFC8}">
      <dsp:nvSpPr>
        <dsp:cNvPr id="0" name=""/>
        <dsp:cNvSpPr/>
      </dsp:nvSpPr>
      <dsp:spPr>
        <a:xfrm>
          <a:off x="0" y="2157797"/>
          <a:ext cx="6261100" cy="608400"/>
        </a:xfrm>
        <a:prstGeom prst="roundRect">
          <a:avLst/>
        </a:prstGeom>
        <a:gradFill rotWithShape="0">
          <a:gsLst>
            <a:gs pos="0">
              <a:schemeClr val="accent2">
                <a:hueOff val="2375279"/>
                <a:satOff val="-408"/>
                <a:lumOff val="-4202"/>
                <a:alphaOff val="0"/>
                <a:tint val="94000"/>
                <a:satMod val="103000"/>
                <a:lumMod val="102000"/>
              </a:schemeClr>
            </a:gs>
            <a:gs pos="50000">
              <a:schemeClr val="accent2">
                <a:hueOff val="2375279"/>
                <a:satOff val="-408"/>
                <a:lumOff val="-4202"/>
                <a:alphaOff val="0"/>
                <a:shade val="100000"/>
                <a:satMod val="110000"/>
                <a:lumMod val="100000"/>
              </a:schemeClr>
            </a:gs>
            <a:gs pos="100000">
              <a:schemeClr val="accent2">
                <a:hueOff val="2375279"/>
                <a:satOff val="-408"/>
                <a:lumOff val="-4202"/>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Application/Workload – Secure applications, APIs, and workloads.</a:t>
          </a:r>
        </a:p>
      </dsp:txBody>
      <dsp:txXfrm>
        <a:off x="29700" y="2187497"/>
        <a:ext cx="6201700" cy="549000"/>
      </dsp:txXfrm>
    </dsp:sp>
    <dsp:sp modelId="{4CC14C6F-8317-4202-94B2-6974C1274D68}">
      <dsp:nvSpPr>
        <dsp:cNvPr id="0" name=""/>
        <dsp:cNvSpPr/>
      </dsp:nvSpPr>
      <dsp:spPr>
        <a:xfrm>
          <a:off x="0" y="2812277"/>
          <a:ext cx="6261100" cy="608400"/>
        </a:xfrm>
        <a:prstGeom prst="roundRect">
          <a:avLst/>
        </a:prstGeom>
        <a:gradFill rotWithShape="0">
          <a:gsLst>
            <a:gs pos="0">
              <a:schemeClr val="accent2">
                <a:hueOff val="3167039"/>
                <a:satOff val="-545"/>
                <a:lumOff val="-5602"/>
                <a:alphaOff val="0"/>
                <a:tint val="94000"/>
                <a:satMod val="103000"/>
                <a:lumMod val="102000"/>
              </a:schemeClr>
            </a:gs>
            <a:gs pos="50000">
              <a:schemeClr val="accent2">
                <a:hueOff val="3167039"/>
                <a:satOff val="-545"/>
                <a:lumOff val="-5602"/>
                <a:alphaOff val="0"/>
                <a:shade val="100000"/>
                <a:satMod val="110000"/>
                <a:lumMod val="100000"/>
              </a:schemeClr>
            </a:gs>
            <a:gs pos="100000">
              <a:schemeClr val="accent2">
                <a:hueOff val="3167039"/>
                <a:satOff val="-545"/>
                <a:lumOff val="-5602"/>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Data – Protecting sensitive data via classification, encryption, and access control.</a:t>
          </a:r>
        </a:p>
      </dsp:txBody>
      <dsp:txXfrm>
        <a:off x="29700" y="2841977"/>
        <a:ext cx="6201700" cy="549000"/>
      </dsp:txXfrm>
    </dsp:sp>
    <dsp:sp modelId="{4193858E-B300-4029-ADB8-B88CC1EE11E2}">
      <dsp:nvSpPr>
        <dsp:cNvPr id="0" name=""/>
        <dsp:cNvSpPr/>
      </dsp:nvSpPr>
      <dsp:spPr>
        <a:xfrm>
          <a:off x="0" y="3466757"/>
          <a:ext cx="6261100" cy="608400"/>
        </a:xfrm>
        <a:prstGeom prst="roundRect">
          <a:avLst/>
        </a:prstGeom>
        <a:gradFill rotWithShape="0">
          <a:gsLst>
            <a:gs pos="0">
              <a:schemeClr val="accent2">
                <a:hueOff val="3958799"/>
                <a:satOff val="-681"/>
                <a:lumOff val="-7003"/>
                <a:alphaOff val="0"/>
                <a:tint val="94000"/>
                <a:satMod val="103000"/>
                <a:lumMod val="102000"/>
              </a:schemeClr>
            </a:gs>
            <a:gs pos="50000">
              <a:schemeClr val="accent2">
                <a:hueOff val="3958799"/>
                <a:satOff val="-681"/>
                <a:lumOff val="-7003"/>
                <a:alphaOff val="0"/>
                <a:shade val="100000"/>
                <a:satMod val="110000"/>
                <a:lumMod val="100000"/>
              </a:schemeClr>
            </a:gs>
            <a:gs pos="100000">
              <a:schemeClr val="accent2">
                <a:hueOff val="3958799"/>
                <a:satOff val="-681"/>
                <a:lumOff val="-7003"/>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Visibility and Analytics – Visibility into their network, devices, and user behavior.</a:t>
          </a:r>
        </a:p>
      </dsp:txBody>
      <dsp:txXfrm>
        <a:off x="29700" y="3496457"/>
        <a:ext cx="6201700" cy="549000"/>
      </dsp:txXfrm>
    </dsp:sp>
    <dsp:sp modelId="{98CA9937-C12F-4109-A4FB-5EB95C83E66B}">
      <dsp:nvSpPr>
        <dsp:cNvPr id="0" name=""/>
        <dsp:cNvSpPr/>
      </dsp:nvSpPr>
      <dsp:spPr>
        <a:xfrm>
          <a:off x="0" y="4121237"/>
          <a:ext cx="6261100" cy="608400"/>
        </a:xfrm>
        <a:prstGeom prst="roundRect">
          <a:avLst/>
        </a:prstGeom>
        <a:gradFill rotWithShape="0">
          <a:gsLst>
            <a:gs pos="0">
              <a:schemeClr val="accent2">
                <a:hueOff val="4750559"/>
                <a:satOff val="-817"/>
                <a:lumOff val="-8403"/>
                <a:alphaOff val="0"/>
                <a:tint val="94000"/>
                <a:satMod val="103000"/>
                <a:lumMod val="102000"/>
              </a:schemeClr>
            </a:gs>
            <a:gs pos="50000">
              <a:schemeClr val="accent2">
                <a:hueOff val="4750559"/>
                <a:satOff val="-817"/>
                <a:lumOff val="-8403"/>
                <a:alphaOff val="0"/>
                <a:shade val="100000"/>
                <a:satMod val="110000"/>
                <a:lumMod val="100000"/>
              </a:schemeClr>
            </a:gs>
            <a:gs pos="100000">
              <a:schemeClr val="accent2">
                <a:hueOff val="4750559"/>
                <a:satOff val="-817"/>
                <a:lumOff val="-8403"/>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Automation and Orchestration – streamlining security processes and coordinating responses to security incidents.</a:t>
          </a:r>
        </a:p>
      </dsp:txBody>
      <dsp:txXfrm>
        <a:off x="29700" y="4150937"/>
        <a:ext cx="6201700" cy="549000"/>
      </dsp:txXfrm>
    </dsp:sp>
    <dsp:sp modelId="{A61A9D4D-160F-41A2-B2A5-779E95064FC6}">
      <dsp:nvSpPr>
        <dsp:cNvPr id="0" name=""/>
        <dsp:cNvSpPr/>
      </dsp:nvSpPr>
      <dsp:spPr>
        <a:xfrm>
          <a:off x="0" y="4775717"/>
          <a:ext cx="6261100" cy="608400"/>
        </a:xfrm>
        <a:prstGeom prst="roundRect">
          <a:avLst/>
        </a:prstGeom>
        <a:gradFill rotWithShape="0">
          <a:gsLst>
            <a:gs pos="0">
              <a:schemeClr val="accent2">
                <a:hueOff val="5542319"/>
                <a:satOff val="-953"/>
                <a:lumOff val="-9804"/>
                <a:alphaOff val="0"/>
                <a:tint val="94000"/>
                <a:satMod val="103000"/>
                <a:lumMod val="102000"/>
              </a:schemeClr>
            </a:gs>
            <a:gs pos="50000">
              <a:schemeClr val="accent2">
                <a:hueOff val="5542319"/>
                <a:satOff val="-953"/>
                <a:lumOff val="-9804"/>
                <a:alphaOff val="0"/>
                <a:shade val="100000"/>
                <a:satMod val="110000"/>
                <a:lumMod val="100000"/>
              </a:schemeClr>
            </a:gs>
            <a:gs pos="100000">
              <a:schemeClr val="accent2">
                <a:hueOff val="5542319"/>
                <a:satOff val="-953"/>
                <a:lumOff val="-9804"/>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(Ajish, 2024, pg.4)</a:t>
          </a:r>
        </a:p>
      </dsp:txBody>
      <dsp:txXfrm>
        <a:off x="29700" y="4805417"/>
        <a:ext cx="6201700" cy="549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CAF478-64D3-46C4-AD76-05694A547056}">
      <dsp:nvSpPr>
        <dsp:cNvPr id="0" name=""/>
        <dsp:cNvSpPr/>
      </dsp:nvSpPr>
      <dsp:spPr>
        <a:xfrm>
          <a:off x="1322" y="81131"/>
          <a:ext cx="4640570" cy="29467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9056E9-165E-4FF4-BC53-68EDB2280D93}">
      <dsp:nvSpPr>
        <dsp:cNvPr id="0" name=""/>
        <dsp:cNvSpPr/>
      </dsp:nvSpPr>
      <dsp:spPr>
        <a:xfrm>
          <a:off x="516940" y="570969"/>
          <a:ext cx="4640570" cy="29467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These types of attacks mean that many customers of Oracle products can have bugs released by Oracle for the SaaS exploited like the attack type “Tokenchpoken” amongst other internal and external attack vectors. (Tyurin, 2018, slide 68)</a:t>
          </a:r>
        </a:p>
      </dsp:txBody>
      <dsp:txXfrm>
        <a:off x="603248" y="657277"/>
        <a:ext cx="4467954" cy="2774145"/>
      </dsp:txXfrm>
    </dsp:sp>
    <dsp:sp modelId="{4D83E679-5948-4474-998B-4F43CE42EEFE}">
      <dsp:nvSpPr>
        <dsp:cNvPr id="0" name=""/>
        <dsp:cNvSpPr/>
      </dsp:nvSpPr>
      <dsp:spPr>
        <a:xfrm>
          <a:off x="5673129" y="81131"/>
          <a:ext cx="4640570" cy="29467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7DB6BC-1DDD-422F-8F24-79CCA3F4576A}">
      <dsp:nvSpPr>
        <dsp:cNvPr id="0" name=""/>
        <dsp:cNvSpPr/>
      </dsp:nvSpPr>
      <dsp:spPr>
        <a:xfrm>
          <a:off x="6188748" y="570969"/>
          <a:ext cx="4640570" cy="294676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For this reason and more, the University of North Texas has transitioned to a Zero Trust Architecture to protect data and enhance security, especially as the university supports work-from-home, contractors, and remote access.</a:t>
          </a:r>
        </a:p>
      </dsp:txBody>
      <dsp:txXfrm>
        <a:off x="6275056" y="657277"/>
        <a:ext cx="4467954" cy="277414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25FA36-DB49-46F4-9BAC-BA90C7D43CAB}" type="datetimeFigureOut">
              <a:rPr lang="en-US" smtClean="0"/>
              <a:t>11/24/2024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240BC-F586-406F-8320-B09A0628F784}" type="slidenum">
              <a:rPr lang="en-US" smtClean="0"/>
              <a:t>‹#›</a:t>
            </a:fld>
            <a:endParaRPr lang="en-US"/>
          </a:p>
        </p:txBody>
      </p:sp>
    </p:spTree>
    <p:extLst>
      <p:ext uri="{BB962C8B-B14F-4D97-AF65-F5344CB8AC3E}">
        <p14:creationId xmlns:p14="http://schemas.microsoft.com/office/powerpoint/2010/main" val="382753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3240BC-F586-406F-8320-B09A0628F784}" type="slidenum">
              <a:rPr lang="en-US" smtClean="0"/>
              <a:t>20</a:t>
            </a:fld>
            <a:endParaRPr lang="en-US"/>
          </a:p>
        </p:txBody>
      </p:sp>
    </p:spTree>
    <p:extLst>
      <p:ext uri="{BB962C8B-B14F-4D97-AF65-F5344CB8AC3E}">
        <p14:creationId xmlns:p14="http://schemas.microsoft.com/office/powerpoint/2010/main" val="1399422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E24A07-DFA3-428F-AA06-8ECB8581DB3B}"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3689894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E24A07-DFA3-428F-AA06-8ECB8581DB3B}"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2382296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E24A07-DFA3-428F-AA06-8ECB8581DB3B}"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1836601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E24A07-DFA3-428F-AA06-8ECB8581DB3B}"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157248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E24A07-DFA3-428F-AA06-8ECB8581DB3B}" type="datetimeFigureOut">
              <a:rPr lang="en-US" smtClean="0"/>
              <a:t>11/24/2024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22616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E24A07-DFA3-428F-AA06-8ECB8581DB3B}" type="datetimeFigureOut">
              <a:rPr lang="en-US" smtClean="0"/>
              <a:t>11/24/2024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4182765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19E24A07-DFA3-428F-AA06-8ECB8581DB3B}" type="datetimeFigureOut">
              <a:rPr lang="en-US" smtClean="0"/>
              <a:t>11/24/2024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2682878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E24A07-DFA3-428F-AA06-8ECB8581DB3B}"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566706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E24A07-DFA3-428F-AA06-8ECB8581DB3B}"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901607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E24A07-DFA3-428F-AA06-8ECB8581DB3B}"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1773804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E24A07-DFA3-428F-AA06-8ECB8581DB3B}"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3177041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E24A07-DFA3-428F-AA06-8ECB8581DB3B}"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0033C64-4690-429B-BBF2-E35625B36D88}"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835293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E24A07-DFA3-428F-AA06-8ECB8581DB3B}" type="datetimeFigureOut">
              <a:rPr lang="en-US" smtClean="0"/>
              <a:t>11/24/2024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1134943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9E24A07-DFA3-428F-AA06-8ECB8581DB3B}" type="datetimeFigureOut">
              <a:rPr lang="en-US" smtClean="0"/>
              <a:t>11/24/2024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10200544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9E24A07-DFA3-428F-AA06-8ECB8581DB3B}" type="datetimeFigureOut">
              <a:rPr lang="en-US" smtClean="0"/>
              <a:t>11/24/2024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1623776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E24A07-DFA3-428F-AA06-8ECB8581DB3B}" type="datetimeFigureOut">
              <a:rPr lang="en-US" smtClean="0"/>
              <a:t>11/24/2024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033C64-4690-429B-BBF2-E35625B36D88}" type="slidenum">
              <a:rPr lang="en-US" smtClean="0"/>
              <a:t>‹#›</a:t>
            </a:fld>
            <a:endParaRPr lang="en-US"/>
          </a:p>
        </p:txBody>
      </p:sp>
    </p:spTree>
    <p:extLst>
      <p:ext uri="{BB962C8B-B14F-4D97-AF65-F5344CB8AC3E}">
        <p14:creationId xmlns:p14="http://schemas.microsoft.com/office/powerpoint/2010/main" val="4251376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19E24A07-DFA3-428F-AA06-8ECB8581DB3B}" type="datetimeFigureOut">
              <a:rPr lang="en-US" smtClean="0"/>
              <a:t>11/24/2024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B0033C64-4690-429B-BBF2-E35625B36D88}" type="slidenum">
              <a:rPr lang="en-US" smtClean="0"/>
              <a:t>‹#›</a:t>
            </a:fld>
            <a:endParaRPr lang="en-US"/>
          </a:p>
        </p:txBody>
      </p:sp>
    </p:spTree>
    <p:extLst>
      <p:ext uri="{BB962C8B-B14F-4D97-AF65-F5344CB8AC3E}">
        <p14:creationId xmlns:p14="http://schemas.microsoft.com/office/powerpoint/2010/main" val="398273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9E24A07-DFA3-428F-AA06-8ECB8581DB3B}" type="datetimeFigureOut">
              <a:rPr lang="en-US" smtClean="0"/>
              <a:t>11/24/2024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B0033C64-4690-429B-BBF2-E35625B36D88}" type="slidenum">
              <a:rPr lang="en-US" smtClean="0"/>
              <a:t>‹#›</a:t>
            </a:fld>
            <a:endParaRPr lang="en-US"/>
          </a:p>
        </p:txBody>
      </p:sp>
    </p:spTree>
    <p:extLst>
      <p:ext uri="{BB962C8B-B14F-4D97-AF65-F5344CB8AC3E}">
        <p14:creationId xmlns:p14="http://schemas.microsoft.com/office/powerpoint/2010/main" val="25500045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186/s43067-024-00155-z" TargetMode="External"/><Relationship Id="rId7" Type="http://schemas.openxmlformats.org/officeDocument/2006/relationships/hyperlink" Target="https://web.archive.org/web/20181118151138/https:/erpscan.com/wp-content/uploads/presentations/2015-Hack-In-Paris-Oracle-PeopleSoft-applications-are-under-attacks.pdf" TargetMode="External"/><Relationship Id="rId2" Type="http://schemas.openxmlformats.org/officeDocument/2006/relationships/hyperlink" Target="https://discover.library.unt.edu/catalog/b7417062" TargetMode="External"/><Relationship Id="rId1" Type="http://schemas.openxmlformats.org/officeDocument/2006/relationships/slideLayout" Target="../slideLayouts/slideLayout2.xml"/><Relationship Id="rId6" Type="http://schemas.openxmlformats.org/officeDocument/2006/relationships/hyperlink" Target="https://docs.oracle.com/cd/E24150_01/pt851h2/eng/psbooks/tsec/book.htm" TargetMode="External"/><Relationship Id="rId5" Type="http://schemas.openxmlformats.org/officeDocument/2006/relationships/hyperlink" Target="https://docs.oracle.com/cd/E24150_01/pt851h2/eng/psbooks/tsvt/chapter.htm?File=tsvt%2Fhtm%2Ftsvt03.htm" TargetMode="External"/><Relationship Id="rId4" Type="http://schemas.openxmlformats.org/officeDocument/2006/relationships/hyperlink" Target="https://www.oracle.com/applications/what-is-saas/" TargetMode="External"/></Relationships>
</file>

<file path=ppt/slides/_rels/slide26.xml.rels><?xml version="1.0" encoding="UTF-8" standalone="yes"?>
<Relationships xmlns="http://schemas.openxmlformats.org/package/2006/relationships"><Relationship Id="rId2" Type="http://schemas.openxmlformats.org/officeDocument/2006/relationships/hyperlink" Target="https://guide.duo.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AFBE7-661F-1D69-E805-59614DDAC684}"/>
              </a:ext>
            </a:extLst>
          </p:cNvPr>
          <p:cNvSpPr>
            <a:spLocks noGrp="1"/>
          </p:cNvSpPr>
          <p:nvPr>
            <p:ph type="ctrTitle"/>
          </p:nvPr>
        </p:nvSpPr>
        <p:spPr/>
        <p:txBody>
          <a:bodyPr/>
          <a:lstStyle/>
          <a:p>
            <a:r>
              <a:rPr lang="en-US" dirty="0"/>
              <a:t>PeopleSoft, Duo, &amp; You</a:t>
            </a:r>
          </a:p>
        </p:txBody>
      </p:sp>
      <p:sp>
        <p:nvSpPr>
          <p:cNvPr id="3" name="Subtitle 2">
            <a:extLst>
              <a:ext uri="{FF2B5EF4-FFF2-40B4-BE49-F238E27FC236}">
                <a16:creationId xmlns:a16="http://schemas.microsoft.com/office/drawing/2014/main" id="{BD19FA39-73D0-2133-860A-2867991570E3}"/>
              </a:ext>
            </a:extLst>
          </p:cNvPr>
          <p:cNvSpPr>
            <a:spLocks noGrp="1"/>
          </p:cNvSpPr>
          <p:nvPr>
            <p:ph type="subTitle" idx="1"/>
          </p:nvPr>
        </p:nvSpPr>
        <p:spPr/>
        <p:txBody>
          <a:bodyPr>
            <a:normAutofit fontScale="92500" lnSpcReduction="10000"/>
          </a:bodyPr>
          <a:lstStyle/>
          <a:p>
            <a:r>
              <a:rPr lang="en-US" dirty="0"/>
              <a:t>An Applied Discussion on Communications and Security &amp;</a:t>
            </a:r>
          </a:p>
          <a:p>
            <a:r>
              <a:rPr lang="en-US" dirty="0"/>
              <a:t>Identity and Access Management with Oracle PeopleSoft and Cisco DUO</a:t>
            </a:r>
          </a:p>
          <a:p>
            <a:r>
              <a:rPr lang="en-US" dirty="0"/>
              <a:t> by Christian Bridge</a:t>
            </a:r>
          </a:p>
        </p:txBody>
      </p:sp>
    </p:spTree>
    <p:extLst>
      <p:ext uri="{BB962C8B-B14F-4D97-AF65-F5344CB8AC3E}">
        <p14:creationId xmlns:p14="http://schemas.microsoft.com/office/powerpoint/2010/main" val="44719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2A773CA-28F4-49C2-BFA3-49A5867C7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D7C72BA-4476-4E4B-BC37-9A75FD0C5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3009A16D-868B-4145-BBC6-555098537E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3992EB33-38E1-4175-8EE2-9BB8CC159C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7" name="Rectangle 16">
            <a:extLst>
              <a:ext uri="{FF2B5EF4-FFF2-40B4-BE49-F238E27FC236}">
                <a16:creationId xmlns:a16="http://schemas.microsoft.com/office/drawing/2014/main" id="{2DCAE5CF-5D29-4779-83E1-BDB64E4F3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AE43066-BA5C-7367-B9A1-0D16DAFB90B6}"/>
              </a:ext>
            </a:extLst>
          </p:cNvPr>
          <p:cNvSpPr>
            <a:spLocks noGrp="1"/>
          </p:cNvSpPr>
          <p:nvPr>
            <p:ph type="title"/>
          </p:nvPr>
        </p:nvSpPr>
        <p:spPr>
          <a:xfrm>
            <a:off x="680321" y="2063262"/>
            <a:ext cx="3739279" cy="2661052"/>
          </a:xfrm>
        </p:spPr>
        <p:txBody>
          <a:bodyPr>
            <a:normAutofit/>
          </a:bodyPr>
          <a:lstStyle/>
          <a:p>
            <a:pPr algn="r"/>
            <a:r>
              <a:rPr lang="en-US" sz="4100"/>
              <a:t>The 4 Pillars of Identity Access Management (IAM)</a:t>
            </a:r>
          </a:p>
        </p:txBody>
      </p:sp>
      <p:graphicFrame>
        <p:nvGraphicFramePr>
          <p:cNvPr id="5" name="Content Placeholder 2">
            <a:extLst>
              <a:ext uri="{FF2B5EF4-FFF2-40B4-BE49-F238E27FC236}">
                <a16:creationId xmlns:a16="http://schemas.microsoft.com/office/drawing/2014/main" id="{413496CC-DD42-D2BF-1783-307AF288D758}"/>
              </a:ext>
            </a:extLst>
          </p:cNvPr>
          <p:cNvGraphicFramePr>
            <a:graphicFrameLocks noGrp="1"/>
          </p:cNvGraphicFramePr>
          <p:nvPr>
            <p:ph idx="1"/>
            <p:extLst>
              <p:ext uri="{D42A27DB-BD31-4B8C-83A1-F6EECF244321}">
                <p14:modId xmlns:p14="http://schemas.microsoft.com/office/powerpoint/2010/main" val="773405595"/>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75175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6990-F30F-ED0A-9DCC-60435F483D20}"/>
              </a:ext>
            </a:extLst>
          </p:cNvPr>
          <p:cNvSpPr>
            <a:spLocks noGrp="1"/>
          </p:cNvSpPr>
          <p:nvPr>
            <p:ph type="title"/>
          </p:nvPr>
        </p:nvSpPr>
        <p:spPr/>
        <p:txBody>
          <a:bodyPr/>
          <a:lstStyle/>
          <a:p>
            <a:r>
              <a:rPr lang="en-US" dirty="0"/>
              <a:t>Two Principles of</a:t>
            </a:r>
            <a:br>
              <a:rPr lang="en-US" dirty="0"/>
            </a:br>
            <a:r>
              <a:rPr lang="en-US" dirty="0"/>
              <a:t>Communication and Network Security</a:t>
            </a:r>
          </a:p>
        </p:txBody>
      </p:sp>
      <p:sp>
        <p:nvSpPr>
          <p:cNvPr id="3" name="Content Placeholder 2">
            <a:extLst>
              <a:ext uri="{FF2B5EF4-FFF2-40B4-BE49-F238E27FC236}">
                <a16:creationId xmlns:a16="http://schemas.microsoft.com/office/drawing/2014/main" id="{500F5C18-C8BC-5F8F-E236-68A8AD966EF7}"/>
              </a:ext>
            </a:extLst>
          </p:cNvPr>
          <p:cNvSpPr>
            <a:spLocks noGrp="1"/>
          </p:cNvSpPr>
          <p:nvPr>
            <p:ph idx="1"/>
          </p:nvPr>
        </p:nvSpPr>
        <p:spPr/>
        <p:txBody>
          <a:bodyPr/>
          <a:lstStyle/>
          <a:p>
            <a:r>
              <a:rPr lang="en-US" dirty="0"/>
              <a:t>Layering – designing something in increasingly abstract terms, with each layer offering some aspect of security or assurance.</a:t>
            </a:r>
          </a:p>
          <a:p>
            <a:r>
              <a:rPr lang="en-US" dirty="0"/>
              <a:t>Domain Separation – Separation of network traffic at collision domains, broadcast domains, and segments in order to avoid network congestion, and adversaries developing understandings of the network topology.</a:t>
            </a:r>
          </a:p>
          <a:p>
            <a:r>
              <a:rPr lang="en-US" dirty="0"/>
              <a:t>Deane &amp; Kraus, 2021, pg. 284</a:t>
            </a:r>
          </a:p>
        </p:txBody>
      </p:sp>
    </p:spTree>
    <p:extLst>
      <p:ext uri="{BB962C8B-B14F-4D97-AF65-F5344CB8AC3E}">
        <p14:creationId xmlns:p14="http://schemas.microsoft.com/office/powerpoint/2010/main" val="3365083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3034B-469E-5A97-B662-32FE9BAF468C}"/>
              </a:ext>
            </a:extLst>
          </p:cNvPr>
          <p:cNvSpPr>
            <a:spLocks noGrp="1"/>
          </p:cNvSpPr>
          <p:nvPr>
            <p:ph type="title"/>
          </p:nvPr>
        </p:nvSpPr>
        <p:spPr/>
        <p:txBody>
          <a:bodyPr/>
          <a:lstStyle/>
          <a:p>
            <a:r>
              <a:rPr lang="en-US" dirty="0"/>
              <a:t>PeopleSoft</a:t>
            </a:r>
          </a:p>
        </p:txBody>
      </p:sp>
      <p:sp>
        <p:nvSpPr>
          <p:cNvPr id="3" name="Content Placeholder 2">
            <a:extLst>
              <a:ext uri="{FF2B5EF4-FFF2-40B4-BE49-F238E27FC236}">
                <a16:creationId xmlns:a16="http://schemas.microsoft.com/office/drawing/2014/main" id="{F4D08367-5519-3464-DD46-12769ACE9264}"/>
              </a:ext>
            </a:extLst>
          </p:cNvPr>
          <p:cNvSpPr>
            <a:spLocks noGrp="1"/>
          </p:cNvSpPr>
          <p:nvPr>
            <p:ph idx="1"/>
          </p:nvPr>
        </p:nvSpPr>
        <p:spPr/>
        <p:txBody>
          <a:bodyPr/>
          <a:lstStyle/>
          <a:p>
            <a:r>
              <a:rPr lang="en-US" dirty="0"/>
              <a:t>Created by Oracle, PeopleSoft (PS) is a variety of “Oracle Cloud Applications”, or Software as a Service (SaaS).</a:t>
            </a:r>
          </a:p>
          <a:p>
            <a:r>
              <a:rPr lang="en-US" dirty="0"/>
              <a:t>SaaS are software developed and maintained by a service provider, which provides regular database access and updates via internet, based on a subscription model.</a:t>
            </a:r>
          </a:p>
          <a:p>
            <a:r>
              <a:rPr lang="en-US" dirty="0"/>
              <a:t>The University of North Texas uses a few PeopleSoft solutions to manage Student Enrollment, Student Finances, Employees &amp; HR, and Student Self-Service.</a:t>
            </a:r>
          </a:p>
          <a:p>
            <a:r>
              <a:rPr lang="en-US" dirty="0"/>
              <a:t>(Oracle, 2024)</a:t>
            </a:r>
          </a:p>
        </p:txBody>
      </p:sp>
    </p:spTree>
    <p:extLst>
      <p:ext uri="{BB962C8B-B14F-4D97-AF65-F5344CB8AC3E}">
        <p14:creationId xmlns:p14="http://schemas.microsoft.com/office/powerpoint/2010/main" val="4239733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A6783-8B34-C34A-6ADF-49B69506A1A2}"/>
              </a:ext>
            </a:extLst>
          </p:cNvPr>
          <p:cNvSpPr>
            <a:spLocks noGrp="1"/>
          </p:cNvSpPr>
          <p:nvPr>
            <p:ph type="title"/>
          </p:nvPr>
        </p:nvSpPr>
        <p:spPr/>
        <p:txBody>
          <a:bodyPr/>
          <a:lstStyle/>
          <a:p>
            <a:r>
              <a:rPr lang="en-US" dirty="0"/>
              <a:t>Benefits of SaaS</a:t>
            </a:r>
          </a:p>
        </p:txBody>
      </p:sp>
      <p:sp>
        <p:nvSpPr>
          <p:cNvPr id="3" name="Content Placeholder 2">
            <a:extLst>
              <a:ext uri="{FF2B5EF4-FFF2-40B4-BE49-F238E27FC236}">
                <a16:creationId xmlns:a16="http://schemas.microsoft.com/office/drawing/2014/main" id="{AF1DBEA5-4E37-2AD4-9165-832AEE3FD724}"/>
              </a:ext>
            </a:extLst>
          </p:cNvPr>
          <p:cNvSpPr>
            <a:spLocks noGrp="1"/>
          </p:cNvSpPr>
          <p:nvPr>
            <p:ph idx="1"/>
          </p:nvPr>
        </p:nvSpPr>
        <p:spPr>
          <a:xfrm>
            <a:off x="680321" y="2101986"/>
            <a:ext cx="9613861" cy="2686963"/>
          </a:xfrm>
        </p:spPr>
        <p:txBody>
          <a:bodyPr>
            <a:normAutofit fontScale="92500" lnSpcReduction="20000"/>
          </a:bodyPr>
          <a:lstStyle/>
          <a:p>
            <a:r>
              <a:rPr lang="en-US" dirty="0"/>
              <a:t>Lower up-front Costs/Quick-Deployment: Majority of services are hosted off-site, so it does not require as much hardware or IT personnel to start and run.</a:t>
            </a:r>
          </a:p>
          <a:p>
            <a:r>
              <a:rPr lang="en-US" dirty="0"/>
              <a:t>Data Portability: Since the database is not locally hosted, you can access it from any computer with credentials to the database.</a:t>
            </a:r>
          </a:p>
          <a:p>
            <a:r>
              <a:rPr lang="en-US" dirty="0"/>
              <a:t>Connected, Cross-Business Solutions: Tying various management systems together so they can communicate and transfer data between each other.</a:t>
            </a:r>
          </a:p>
          <a:p>
            <a:pPr marL="0" indent="0">
              <a:buNone/>
            </a:pPr>
            <a:r>
              <a:rPr lang="en-US" dirty="0"/>
              <a:t>(</a:t>
            </a:r>
            <a:r>
              <a:rPr lang="en-US" dirty="0" err="1"/>
              <a:t>PeopleBooks</a:t>
            </a:r>
            <a:r>
              <a:rPr lang="en-US" dirty="0"/>
              <a:t>, 2024, pg.3)</a:t>
            </a:r>
          </a:p>
          <a:p>
            <a:endParaRPr lang="en-US" dirty="0"/>
          </a:p>
        </p:txBody>
      </p:sp>
      <p:sp>
        <p:nvSpPr>
          <p:cNvPr id="4" name="TextBox 3">
            <a:extLst>
              <a:ext uri="{FF2B5EF4-FFF2-40B4-BE49-F238E27FC236}">
                <a16:creationId xmlns:a16="http://schemas.microsoft.com/office/drawing/2014/main" id="{F744AF37-393F-E827-EA51-D3D8BEF6305D}"/>
              </a:ext>
            </a:extLst>
          </p:cNvPr>
          <p:cNvSpPr txBox="1"/>
          <p:nvPr/>
        </p:nvSpPr>
        <p:spPr>
          <a:xfrm>
            <a:off x="680321" y="4742813"/>
            <a:ext cx="9613861" cy="1785104"/>
          </a:xfrm>
          <a:prstGeom prst="rect">
            <a:avLst/>
          </a:prstGeom>
          <a:noFill/>
        </p:spPr>
        <p:txBody>
          <a:bodyPr wrap="square" rtlCol="0">
            <a:spAutoFit/>
          </a:bodyPr>
          <a:lstStyle/>
          <a:p>
            <a:r>
              <a:rPr lang="en-US" sz="2200" dirty="0" err="1"/>
              <a:t>Ajish</a:t>
            </a:r>
            <a:r>
              <a:rPr lang="en-US" sz="2200" dirty="0"/>
              <a:t> (2024, pg. 1-2) adds Cloud applications and platforms have revolutionized the information technology (IT) world by providing a solid foundation for flexible, scalable, and efficient solutions. These services also allows companies to provide consistent updates to software and hardware to counter the increasing number of cloud-based cyberattacks.</a:t>
            </a:r>
          </a:p>
        </p:txBody>
      </p:sp>
    </p:spTree>
    <p:extLst>
      <p:ext uri="{BB962C8B-B14F-4D97-AF65-F5344CB8AC3E}">
        <p14:creationId xmlns:p14="http://schemas.microsoft.com/office/powerpoint/2010/main" val="3635193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D8DF5C3E-BDAB-40E6-A40B-8C05D8CD3F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a:gradFill>
            <a:gsLst>
              <a:gs pos="0">
                <a:srgbClr val="F78925"/>
              </a:gs>
              <a:gs pos="50000">
                <a:srgbClr val="D54209"/>
              </a:gs>
              <a:gs pos="100000">
                <a:srgbClr val="8D0000"/>
              </a:gs>
            </a:gsLst>
            <a:lin ang="2520000" scaled="0"/>
          </a:gradFill>
        </p:spPr>
      </p:pic>
      <p:pic>
        <p:nvPicPr>
          <p:cNvPr id="23" name="Picture 22">
            <a:extLst>
              <a:ext uri="{FF2B5EF4-FFF2-40B4-BE49-F238E27FC236}">
                <a16:creationId xmlns:a16="http://schemas.microsoft.com/office/drawing/2014/main" id="{9D90C31A-86E3-472B-B929-496667598E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Rectangle 24">
            <a:extLst>
              <a:ext uri="{FF2B5EF4-FFF2-40B4-BE49-F238E27FC236}">
                <a16:creationId xmlns:a16="http://schemas.microsoft.com/office/drawing/2014/main" id="{9DD3589A-DB65-424B-ACF1-5C8155F1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F784D76-D302-4160-A2D4-C2F4AB76D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D26617D-93E4-3458-6044-C66F0EFB1517}"/>
              </a:ext>
            </a:extLst>
          </p:cNvPr>
          <p:cNvSpPr>
            <a:spLocks noGrp="1"/>
          </p:cNvSpPr>
          <p:nvPr>
            <p:ph type="title"/>
          </p:nvPr>
        </p:nvSpPr>
        <p:spPr>
          <a:xfrm>
            <a:off x="680321" y="753228"/>
            <a:ext cx="5584677" cy="1080938"/>
          </a:xfrm>
        </p:spPr>
        <p:txBody>
          <a:bodyPr>
            <a:normAutofit fontScale="90000"/>
          </a:bodyPr>
          <a:lstStyle/>
          <a:p>
            <a:r>
              <a:rPr lang="en-US" dirty="0">
                <a:solidFill>
                  <a:srgbClr val="FFFFFF"/>
                </a:solidFill>
              </a:rPr>
              <a:t>PS Internet Architecture -</a:t>
            </a:r>
            <a:br>
              <a:rPr lang="en-US" dirty="0">
                <a:solidFill>
                  <a:srgbClr val="FFFFFF"/>
                </a:solidFill>
              </a:rPr>
            </a:br>
            <a:r>
              <a:rPr lang="en-US" dirty="0">
                <a:solidFill>
                  <a:srgbClr val="FFFFFF"/>
                </a:solidFill>
              </a:rPr>
              <a:t>Layering &amp; Domain Separation</a:t>
            </a:r>
          </a:p>
        </p:txBody>
      </p:sp>
      <p:pic>
        <p:nvPicPr>
          <p:cNvPr id="29" name="Picture 28">
            <a:extLst>
              <a:ext uri="{FF2B5EF4-FFF2-40B4-BE49-F238E27FC236}">
                <a16:creationId xmlns:a16="http://schemas.microsoft.com/office/drawing/2014/main" id="{608D9710-1A5F-4D24-B654-F2081DE6014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3" name="Content Placeholder 2">
            <a:extLst>
              <a:ext uri="{FF2B5EF4-FFF2-40B4-BE49-F238E27FC236}">
                <a16:creationId xmlns:a16="http://schemas.microsoft.com/office/drawing/2014/main" id="{AE655671-44A6-00F8-B82E-5B84037A5907}"/>
              </a:ext>
            </a:extLst>
          </p:cNvPr>
          <p:cNvSpPr>
            <a:spLocks noGrp="1"/>
          </p:cNvSpPr>
          <p:nvPr>
            <p:ph idx="1"/>
          </p:nvPr>
        </p:nvSpPr>
        <p:spPr>
          <a:xfrm>
            <a:off x="680321" y="2336872"/>
            <a:ext cx="5104843" cy="4336570"/>
          </a:xfrm>
        </p:spPr>
        <p:txBody>
          <a:bodyPr>
            <a:normAutofit/>
          </a:bodyPr>
          <a:lstStyle/>
          <a:p>
            <a:r>
              <a:rPr lang="en-US" sz="2000" dirty="0">
                <a:solidFill>
                  <a:srgbClr val="FFFFFF"/>
                </a:solidFill>
              </a:rPr>
              <a:t>Although much more complex than needed for our discussion, we can see the many steps taken by a SaaS/Cloud solution for a user to connect to send a request to the database and receive a reply.</a:t>
            </a:r>
          </a:p>
          <a:p>
            <a:r>
              <a:rPr lang="en-US" sz="2000" dirty="0">
                <a:solidFill>
                  <a:srgbClr val="FFFFFF"/>
                </a:solidFill>
              </a:rPr>
              <a:t>The browser connects to the web server, the Web Server to the Application Server, and after queuing the Server Processes the response, and returns the data in reverse to the browser.</a:t>
            </a:r>
          </a:p>
          <a:p>
            <a:pPr marL="0" indent="0">
              <a:buNone/>
            </a:pPr>
            <a:r>
              <a:rPr lang="en-US" sz="2000" dirty="0">
                <a:solidFill>
                  <a:srgbClr val="FFFFFF"/>
                </a:solidFill>
              </a:rPr>
              <a:t>(</a:t>
            </a:r>
            <a:r>
              <a:rPr lang="en-US" sz="2000" dirty="0" err="1">
                <a:solidFill>
                  <a:srgbClr val="FFFFFF"/>
                </a:solidFill>
              </a:rPr>
              <a:t>PeopleBooks</a:t>
            </a:r>
            <a:r>
              <a:rPr lang="en-US" sz="2000" dirty="0">
                <a:solidFill>
                  <a:srgbClr val="FFFFFF"/>
                </a:solidFill>
              </a:rPr>
              <a:t>, 2024, pg.3)</a:t>
            </a:r>
          </a:p>
        </p:txBody>
      </p:sp>
      <p:sp useBgFill="1">
        <p:nvSpPr>
          <p:cNvPr id="31" name="Rectangle 30">
            <a:extLst>
              <a:ext uri="{FF2B5EF4-FFF2-40B4-BE49-F238E27FC236}">
                <a16:creationId xmlns:a16="http://schemas.microsoft.com/office/drawing/2014/main" id="{2B57E7D2-A94B-4A8D-B58F-D3E30C235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computer network&#10;&#10;Description automatically generated">
            <a:extLst>
              <a:ext uri="{FF2B5EF4-FFF2-40B4-BE49-F238E27FC236}">
                <a16:creationId xmlns:a16="http://schemas.microsoft.com/office/drawing/2014/main" id="{EF8D9E63-36E7-AE23-CC68-883E204CB99A}"/>
              </a:ext>
            </a:extLst>
          </p:cNvPr>
          <p:cNvPicPr>
            <a:picLocks noChangeAspect="1"/>
          </p:cNvPicPr>
          <p:nvPr/>
        </p:nvPicPr>
        <p:blipFill>
          <a:blip r:embed="rId4"/>
          <a:stretch>
            <a:fillRect/>
          </a:stretch>
        </p:blipFill>
        <p:spPr>
          <a:xfrm>
            <a:off x="7043933" y="1010332"/>
            <a:ext cx="4178419" cy="4830542"/>
          </a:xfrm>
          <a:prstGeom prst="rect">
            <a:avLst/>
          </a:prstGeom>
          <a:ln>
            <a:noFill/>
          </a:ln>
          <a:effectLst/>
        </p:spPr>
      </p:pic>
    </p:spTree>
    <p:extLst>
      <p:ext uri="{BB962C8B-B14F-4D97-AF65-F5344CB8AC3E}">
        <p14:creationId xmlns:p14="http://schemas.microsoft.com/office/powerpoint/2010/main" val="101259474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D8DF5C3E-BDAB-40E6-A40B-8C05D8CD3F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a:gradFill>
            <a:gsLst>
              <a:gs pos="0">
                <a:srgbClr val="F78925"/>
              </a:gs>
              <a:gs pos="50000">
                <a:srgbClr val="D54209"/>
              </a:gs>
              <a:gs pos="100000">
                <a:srgbClr val="8D0000"/>
              </a:gs>
            </a:gsLst>
            <a:lin ang="2520000" scaled="0"/>
          </a:gradFill>
        </p:spPr>
      </p:pic>
      <p:pic>
        <p:nvPicPr>
          <p:cNvPr id="25" name="Picture 24">
            <a:extLst>
              <a:ext uri="{FF2B5EF4-FFF2-40B4-BE49-F238E27FC236}">
                <a16:creationId xmlns:a16="http://schemas.microsoft.com/office/drawing/2014/main" id="{9D90C31A-86E3-472B-B929-496667598E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7" name="Rectangle 26">
            <a:extLst>
              <a:ext uri="{FF2B5EF4-FFF2-40B4-BE49-F238E27FC236}">
                <a16:creationId xmlns:a16="http://schemas.microsoft.com/office/drawing/2014/main" id="{9DD3589A-DB65-424B-ACF1-5C8155F1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F784D76-D302-4160-A2D4-C2F4AB76D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DCA646A-7577-E54A-2FBE-F19381817147}"/>
              </a:ext>
            </a:extLst>
          </p:cNvPr>
          <p:cNvSpPr>
            <a:spLocks noGrp="1"/>
          </p:cNvSpPr>
          <p:nvPr>
            <p:ph type="title"/>
          </p:nvPr>
        </p:nvSpPr>
        <p:spPr>
          <a:xfrm>
            <a:off x="680321" y="753228"/>
            <a:ext cx="5584677" cy="1080938"/>
          </a:xfrm>
        </p:spPr>
        <p:txBody>
          <a:bodyPr>
            <a:normAutofit/>
          </a:bodyPr>
          <a:lstStyle/>
          <a:p>
            <a:r>
              <a:rPr lang="en-US">
                <a:solidFill>
                  <a:srgbClr val="FFFFFF"/>
                </a:solidFill>
              </a:rPr>
              <a:t>Web Browsers &amp; Servers</a:t>
            </a:r>
          </a:p>
        </p:txBody>
      </p:sp>
      <p:pic>
        <p:nvPicPr>
          <p:cNvPr id="31" name="Picture 30">
            <a:extLst>
              <a:ext uri="{FF2B5EF4-FFF2-40B4-BE49-F238E27FC236}">
                <a16:creationId xmlns:a16="http://schemas.microsoft.com/office/drawing/2014/main" id="{608D9710-1A5F-4D24-B654-F2081DE6014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3" name="Content Placeholder 2">
            <a:extLst>
              <a:ext uri="{FF2B5EF4-FFF2-40B4-BE49-F238E27FC236}">
                <a16:creationId xmlns:a16="http://schemas.microsoft.com/office/drawing/2014/main" id="{68C4E56E-1623-14FC-D7E1-52E97D389B67}"/>
              </a:ext>
            </a:extLst>
          </p:cNvPr>
          <p:cNvSpPr>
            <a:spLocks noGrp="1"/>
          </p:cNvSpPr>
          <p:nvPr>
            <p:ph idx="1"/>
          </p:nvPr>
        </p:nvSpPr>
        <p:spPr>
          <a:xfrm>
            <a:off x="680321" y="2336872"/>
            <a:ext cx="5104843" cy="4248485"/>
          </a:xfrm>
        </p:spPr>
        <p:txBody>
          <a:bodyPr>
            <a:normAutofit/>
          </a:bodyPr>
          <a:lstStyle/>
          <a:p>
            <a:r>
              <a:rPr lang="en-US" sz="2000" dirty="0">
                <a:solidFill>
                  <a:srgbClr val="FFFFFF"/>
                </a:solidFill>
              </a:rPr>
              <a:t>Web Browsers send HTTP/S requests to PeopleSoft servlets running on the web server.</a:t>
            </a:r>
          </a:p>
          <a:p>
            <a:r>
              <a:rPr lang="en-US" sz="2000" dirty="0">
                <a:solidFill>
                  <a:srgbClr val="FFFFFF"/>
                </a:solidFill>
              </a:rPr>
              <a:t>The webserver translates the HTTP/S requests into a Jolt Request</a:t>
            </a:r>
          </a:p>
          <a:p>
            <a:r>
              <a:rPr lang="en-US" sz="2000" dirty="0">
                <a:solidFill>
                  <a:srgbClr val="FFFFFF"/>
                </a:solidFill>
              </a:rPr>
              <a:t>PeopleSoft sends HTML, JavaScript, and Cookies to the browser.</a:t>
            </a:r>
          </a:p>
          <a:p>
            <a:r>
              <a:rPr lang="en-US" sz="2000" dirty="0">
                <a:solidFill>
                  <a:srgbClr val="FFFFFF"/>
                </a:solidFill>
              </a:rPr>
              <a:t>After system authentication during sign-on, </a:t>
            </a:r>
            <a:r>
              <a:rPr lang="en-US" sz="2000" dirty="0" err="1">
                <a:solidFill>
                  <a:srgbClr val="FFFFFF"/>
                </a:solidFill>
              </a:rPr>
              <a:t>PeopleTools</a:t>
            </a:r>
            <a:r>
              <a:rPr lang="en-US" sz="2000" dirty="0">
                <a:solidFill>
                  <a:srgbClr val="FFFFFF"/>
                </a:solidFill>
              </a:rPr>
              <a:t> security deploys a web browser cookies to store a unique access token for each user session.</a:t>
            </a:r>
          </a:p>
          <a:p>
            <a:pPr marL="0" indent="0">
              <a:buNone/>
            </a:pPr>
            <a:r>
              <a:rPr lang="en-US" sz="2000" dirty="0">
                <a:solidFill>
                  <a:srgbClr val="FFFFFF"/>
                </a:solidFill>
              </a:rPr>
              <a:t>(</a:t>
            </a:r>
            <a:r>
              <a:rPr lang="en-US" sz="2000" dirty="0" err="1">
                <a:solidFill>
                  <a:srgbClr val="FFFFFF"/>
                </a:solidFill>
              </a:rPr>
              <a:t>PeopleBooks</a:t>
            </a:r>
            <a:r>
              <a:rPr lang="en-US" sz="2000" dirty="0">
                <a:solidFill>
                  <a:srgbClr val="FFFFFF"/>
                </a:solidFill>
              </a:rPr>
              <a:t>, 2024, pg.3)</a:t>
            </a:r>
          </a:p>
        </p:txBody>
      </p:sp>
      <p:sp useBgFill="1">
        <p:nvSpPr>
          <p:cNvPr id="33" name="Rectangle 32">
            <a:extLst>
              <a:ext uri="{FF2B5EF4-FFF2-40B4-BE49-F238E27FC236}">
                <a16:creationId xmlns:a16="http://schemas.microsoft.com/office/drawing/2014/main" id="{2B57E7D2-A94B-4A8D-B58F-D3E30C235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computer network&#10;&#10;Description automatically generated">
            <a:extLst>
              <a:ext uri="{FF2B5EF4-FFF2-40B4-BE49-F238E27FC236}">
                <a16:creationId xmlns:a16="http://schemas.microsoft.com/office/drawing/2014/main" id="{7C18A255-FD22-8574-6D2E-1BD0CF4B911A}"/>
              </a:ext>
            </a:extLst>
          </p:cNvPr>
          <p:cNvPicPr>
            <a:picLocks noChangeAspect="1"/>
          </p:cNvPicPr>
          <p:nvPr/>
        </p:nvPicPr>
        <p:blipFill>
          <a:blip r:embed="rId4"/>
          <a:stretch>
            <a:fillRect/>
          </a:stretch>
        </p:blipFill>
        <p:spPr>
          <a:xfrm>
            <a:off x="7043933" y="1097793"/>
            <a:ext cx="4178419" cy="4655620"/>
          </a:xfrm>
          <a:prstGeom prst="rect">
            <a:avLst/>
          </a:prstGeom>
          <a:ln>
            <a:noFill/>
          </a:ln>
          <a:effectLst/>
        </p:spPr>
      </p:pic>
    </p:spTree>
    <p:extLst>
      <p:ext uri="{BB962C8B-B14F-4D97-AF65-F5344CB8AC3E}">
        <p14:creationId xmlns:p14="http://schemas.microsoft.com/office/powerpoint/2010/main" val="154601495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C7928-0294-C536-CDC8-3EF8C5E97988}"/>
              </a:ext>
            </a:extLst>
          </p:cNvPr>
          <p:cNvSpPr>
            <a:spLocks noGrp="1"/>
          </p:cNvSpPr>
          <p:nvPr>
            <p:ph type="title"/>
          </p:nvPr>
        </p:nvSpPr>
        <p:spPr/>
        <p:txBody>
          <a:bodyPr/>
          <a:lstStyle/>
          <a:p>
            <a:r>
              <a:rPr lang="en-US" dirty="0"/>
              <a:t>PS Authentication &amp; Single Sign-On (SSO)</a:t>
            </a:r>
          </a:p>
        </p:txBody>
      </p:sp>
      <p:sp>
        <p:nvSpPr>
          <p:cNvPr id="3" name="Content Placeholder 2">
            <a:extLst>
              <a:ext uri="{FF2B5EF4-FFF2-40B4-BE49-F238E27FC236}">
                <a16:creationId xmlns:a16="http://schemas.microsoft.com/office/drawing/2014/main" id="{57968E2C-062F-AD79-C90F-7BE9FC19B3AB}"/>
              </a:ext>
            </a:extLst>
          </p:cNvPr>
          <p:cNvSpPr>
            <a:spLocks noGrp="1"/>
          </p:cNvSpPr>
          <p:nvPr>
            <p:ph idx="1"/>
          </p:nvPr>
        </p:nvSpPr>
        <p:spPr/>
        <p:txBody>
          <a:bodyPr>
            <a:normAutofit lnSpcReduction="10000"/>
          </a:bodyPr>
          <a:lstStyle/>
          <a:p>
            <a:r>
              <a:rPr lang="en-US" dirty="0"/>
              <a:t>The use of web browser cookies to store an access token is meant to reauthenticate users and bypass the sign-in process as users navigate the system and even access separate PeopleSoft applications.</a:t>
            </a:r>
          </a:p>
          <a:p>
            <a:r>
              <a:rPr lang="en-US" dirty="0"/>
              <a:t>The three configurations Oracle offers are:</a:t>
            </a:r>
          </a:p>
          <a:p>
            <a:pPr lvl="1"/>
            <a:r>
              <a:rPr lang="en-US" dirty="0"/>
              <a:t>PeopleSoft applications – access to multiple PeopleSoft Servers</a:t>
            </a:r>
          </a:p>
          <a:p>
            <a:pPr lvl="1"/>
            <a:r>
              <a:rPr lang="en-US" dirty="0"/>
              <a:t>PeopleSoft and Oracle applications – Sign in to one system, and access both.</a:t>
            </a:r>
          </a:p>
          <a:p>
            <a:pPr lvl="1"/>
            <a:r>
              <a:rPr lang="en-US" dirty="0"/>
              <a:t>Desktop – Once signed into a network computer and authenticated with network credentials, the user can freely access all PeopleSoft applications.</a:t>
            </a:r>
          </a:p>
          <a:p>
            <a:pPr marL="0" indent="0">
              <a:buNone/>
            </a:pPr>
            <a:r>
              <a:rPr lang="en-US" dirty="0"/>
              <a:t>(Security Administration. </a:t>
            </a:r>
            <a:r>
              <a:rPr lang="en-US" dirty="0" err="1"/>
              <a:t>PeopleBooks</a:t>
            </a:r>
            <a:r>
              <a:rPr lang="en-US" dirty="0"/>
              <a:t>, 2024, pg. 2)</a:t>
            </a:r>
          </a:p>
          <a:p>
            <a:endParaRPr lang="en-US" dirty="0"/>
          </a:p>
        </p:txBody>
      </p:sp>
    </p:spTree>
    <p:extLst>
      <p:ext uri="{BB962C8B-B14F-4D97-AF65-F5344CB8AC3E}">
        <p14:creationId xmlns:p14="http://schemas.microsoft.com/office/powerpoint/2010/main" val="2954293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EEA2-6796-AEC3-4D58-D3001CFB48DD}"/>
              </a:ext>
            </a:extLst>
          </p:cNvPr>
          <p:cNvSpPr>
            <a:spLocks noGrp="1"/>
          </p:cNvSpPr>
          <p:nvPr>
            <p:ph type="title"/>
          </p:nvPr>
        </p:nvSpPr>
        <p:spPr/>
        <p:txBody>
          <a:bodyPr/>
          <a:lstStyle/>
          <a:p>
            <a:r>
              <a:rPr lang="en-US" dirty="0"/>
              <a:t>Example of PS SSO &amp; PS_TOKEN</a:t>
            </a:r>
          </a:p>
        </p:txBody>
      </p:sp>
      <p:pic>
        <p:nvPicPr>
          <p:cNvPr id="7" name="Content Placeholder 6">
            <a:extLst>
              <a:ext uri="{FF2B5EF4-FFF2-40B4-BE49-F238E27FC236}">
                <a16:creationId xmlns:a16="http://schemas.microsoft.com/office/drawing/2014/main" id="{F55269A9-F82A-149F-70D0-8507C6FE503C}"/>
              </a:ext>
            </a:extLst>
          </p:cNvPr>
          <p:cNvPicPr>
            <a:picLocks noGrp="1" noChangeAspect="1"/>
          </p:cNvPicPr>
          <p:nvPr>
            <p:ph idx="1"/>
          </p:nvPr>
        </p:nvPicPr>
        <p:blipFill>
          <a:blip r:embed="rId2"/>
          <a:stretch>
            <a:fillRect/>
          </a:stretch>
        </p:blipFill>
        <p:spPr>
          <a:xfrm>
            <a:off x="1955993" y="2127998"/>
            <a:ext cx="7062516" cy="4126232"/>
          </a:xfrm>
        </p:spPr>
      </p:pic>
      <p:sp>
        <p:nvSpPr>
          <p:cNvPr id="8" name="TextBox 7">
            <a:extLst>
              <a:ext uri="{FF2B5EF4-FFF2-40B4-BE49-F238E27FC236}">
                <a16:creationId xmlns:a16="http://schemas.microsoft.com/office/drawing/2014/main" id="{E21D44E1-6DB2-D151-38BE-7AFE67F3746D}"/>
              </a:ext>
            </a:extLst>
          </p:cNvPr>
          <p:cNvSpPr txBox="1"/>
          <p:nvPr/>
        </p:nvSpPr>
        <p:spPr>
          <a:xfrm>
            <a:off x="208478" y="6323433"/>
            <a:ext cx="10557545" cy="369332"/>
          </a:xfrm>
          <a:prstGeom prst="rect">
            <a:avLst/>
          </a:prstGeom>
          <a:noFill/>
        </p:spPr>
        <p:txBody>
          <a:bodyPr wrap="square" rtlCol="0">
            <a:spAutoFit/>
          </a:bodyPr>
          <a:lstStyle/>
          <a:p>
            <a:r>
              <a:rPr lang="en-US" dirty="0"/>
              <a:t>(Tyurin, 2018, Slide 52)</a:t>
            </a:r>
          </a:p>
        </p:txBody>
      </p:sp>
    </p:spTree>
    <p:extLst>
      <p:ext uri="{BB962C8B-B14F-4D97-AF65-F5344CB8AC3E}">
        <p14:creationId xmlns:p14="http://schemas.microsoft.com/office/powerpoint/2010/main" val="2690178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D88F-619C-3737-5186-51853F6FC390}"/>
              </a:ext>
            </a:extLst>
          </p:cNvPr>
          <p:cNvSpPr>
            <a:spLocks noGrp="1"/>
          </p:cNvSpPr>
          <p:nvPr>
            <p:ph type="title"/>
          </p:nvPr>
        </p:nvSpPr>
        <p:spPr/>
        <p:txBody>
          <a:bodyPr/>
          <a:lstStyle/>
          <a:p>
            <a:r>
              <a:rPr lang="en-US" dirty="0"/>
              <a:t>User Profiles &amp; PS_TOKENS</a:t>
            </a:r>
          </a:p>
        </p:txBody>
      </p:sp>
      <p:sp>
        <p:nvSpPr>
          <p:cNvPr id="3" name="Content Placeholder 2">
            <a:extLst>
              <a:ext uri="{FF2B5EF4-FFF2-40B4-BE49-F238E27FC236}">
                <a16:creationId xmlns:a16="http://schemas.microsoft.com/office/drawing/2014/main" id="{BB86D6C7-BB75-0D66-4F9D-2A4F05DAE708}"/>
              </a:ext>
            </a:extLst>
          </p:cNvPr>
          <p:cNvSpPr>
            <a:spLocks noGrp="1"/>
          </p:cNvSpPr>
          <p:nvPr>
            <p:ph idx="1"/>
          </p:nvPr>
        </p:nvSpPr>
        <p:spPr>
          <a:xfrm>
            <a:off x="680321" y="2336872"/>
            <a:ext cx="9613861" cy="4021065"/>
          </a:xfrm>
        </p:spPr>
        <p:txBody>
          <a:bodyPr>
            <a:normAutofit fontScale="92500" lnSpcReduction="20000"/>
          </a:bodyPr>
          <a:lstStyle/>
          <a:p>
            <a:r>
              <a:rPr lang="en-US" dirty="0"/>
              <a:t>Users have:</a:t>
            </a:r>
          </a:p>
          <a:p>
            <a:pPr lvl="1"/>
            <a:r>
              <a:rPr lang="en-US" dirty="0"/>
              <a:t>User Profiles: Individualized, but linked to one or more roles, and the roles respective permissions.</a:t>
            </a:r>
          </a:p>
          <a:p>
            <a:pPr lvl="1"/>
            <a:r>
              <a:rPr lang="en-US" dirty="0"/>
              <a:t>Roles link user profiles to permissions, and usually are used to group a set of pre-determined permissions.</a:t>
            </a:r>
          </a:p>
          <a:p>
            <a:pPr lvl="1"/>
            <a:r>
              <a:rPr lang="en-US" dirty="0"/>
              <a:t>Permissions control view/read/write access across the system</a:t>
            </a:r>
          </a:p>
          <a:p>
            <a:pPr lvl="1"/>
            <a:r>
              <a:rPr lang="en-US" dirty="0"/>
              <a:t>(Security Administration, </a:t>
            </a:r>
            <a:r>
              <a:rPr lang="en-US" dirty="0" err="1"/>
              <a:t>PeopleBooks</a:t>
            </a:r>
            <a:r>
              <a:rPr lang="en-US" dirty="0"/>
              <a:t>, 2024, pg.2)</a:t>
            </a:r>
          </a:p>
          <a:p>
            <a:r>
              <a:rPr lang="en-US" dirty="0"/>
              <a:t>Once a user is authenticated, they receive a PS_TOKEN cookie to their browser.</a:t>
            </a:r>
          </a:p>
          <a:p>
            <a:r>
              <a:rPr lang="en-US" dirty="0"/>
              <a:t>Security Features:</a:t>
            </a:r>
          </a:p>
          <a:p>
            <a:pPr lvl="1"/>
            <a:r>
              <a:rPr lang="en-US" dirty="0"/>
              <a:t>Cookie exists in memory; not written to disk</a:t>
            </a:r>
          </a:p>
          <a:p>
            <a:pPr lvl="1"/>
            <a:r>
              <a:rPr lang="en-US" dirty="0"/>
              <a:t>There is no password stored in the cookie</a:t>
            </a:r>
          </a:p>
          <a:p>
            <a:pPr lvl="1"/>
            <a:r>
              <a:rPr lang="en-US" dirty="0"/>
              <a:t>Expiration time of a cookie can be set from hours to minutes.</a:t>
            </a:r>
          </a:p>
          <a:p>
            <a:pPr lvl="1"/>
            <a:r>
              <a:rPr lang="en-US" dirty="0"/>
              <a:t>(</a:t>
            </a:r>
            <a:r>
              <a:rPr lang="en-US" dirty="0" err="1"/>
              <a:t>PeopleBooks</a:t>
            </a:r>
            <a:r>
              <a:rPr lang="en-US" dirty="0"/>
              <a:t>, 2024, pg.10)</a:t>
            </a:r>
          </a:p>
        </p:txBody>
      </p:sp>
    </p:spTree>
    <p:extLst>
      <p:ext uri="{BB962C8B-B14F-4D97-AF65-F5344CB8AC3E}">
        <p14:creationId xmlns:p14="http://schemas.microsoft.com/office/powerpoint/2010/main" val="3653274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F685-D394-ACD6-5CC1-5C4D35EDCED9}"/>
              </a:ext>
            </a:extLst>
          </p:cNvPr>
          <p:cNvSpPr>
            <a:spLocks noGrp="1"/>
          </p:cNvSpPr>
          <p:nvPr>
            <p:ph type="title"/>
          </p:nvPr>
        </p:nvSpPr>
        <p:spPr/>
        <p:txBody>
          <a:bodyPr/>
          <a:lstStyle/>
          <a:p>
            <a:r>
              <a:rPr lang="en-US" dirty="0"/>
              <a:t>Issues with SSO &amp; PS_TOKENS</a:t>
            </a:r>
          </a:p>
        </p:txBody>
      </p:sp>
      <p:sp>
        <p:nvSpPr>
          <p:cNvPr id="3" name="Content Placeholder 2">
            <a:extLst>
              <a:ext uri="{FF2B5EF4-FFF2-40B4-BE49-F238E27FC236}">
                <a16:creationId xmlns:a16="http://schemas.microsoft.com/office/drawing/2014/main" id="{6E20E682-314E-3066-3ADF-EB5D900109D3}"/>
              </a:ext>
            </a:extLst>
          </p:cNvPr>
          <p:cNvSpPr>
            <a:spLocks noGrp="1"/>
          </p:cNvSpPr>
          <p:nvPr>
            <p:ph idx="1"/>
          </p:nvPr>
        </p:nvSpPr>
        <p:spPr/>
        <p:txBody>
          <a:bodyPr>
            <a:normAutofit lnSpcReduction="10000"/>
          </a:bodyPr>
          <a:lstStyle/>
          <a:p>
            <a:r>
              <a:rPr lang="en-US" dirty="0"/>
              <a:t>Lingering Tokens when switching between user profiles, allowing users to see various data points that one profile had access to while another does not.</a:t>
            </a:r>
          </a:p>
          <a:p>
            <a:r>
              <a:rPr lang="en-US" dirty="0"/>
              <a:t>Possible reverse engineering of a </a:t>
            </a:r>
            <a:r>
              <a:rPr lang="en-US" dirty="0" err="1"/>
              <a:t>PS_Token</a:t>
            </a:r>
            <a:r>
              <a:rPr lang="en-US" dirty="0"/>
              <a:t> understanding the make-up of the token, where only one value, a “pre-shared key” is unknown.</a:t>
            </a:r>
          </a:p>
          <a:p>
            <a:r>
              <a:rPr lang="en-US" dirty="0"/>
              <a:t>Theoretically this means a bad actor could obtain a PS_TOKEN cookie, obtain necessary values and signatures from token, make offline brute force attacks and comparing results of hash with signature.</a:t>
            </a:r>
          </a:p>
        </p:txBody>
      </p:sp>
      <p:sp>
        <p:nvSpPr>
          <p:cNvPr id="4" name="TextBox 3">
            <a:extLst>
              <a:ext uri="{FF2B5EF4-FFF2-40B4-BE49-F238E27FC236}">
                <a16:creationId xmlns:a16="http://schemas.microsoft.com/office/drawing/2014/main" id="{D8A6C9E3-4903-50DB-D43B-602E5129A3F5}"/>
              </a:ext>
            </a:extLst>
          </p:cNvPr>
          <p:cNvSpPr txBox="1"/>
          <p:nvPr/>
        </p:nvSpPr>
        <p:spPr>
          <a:xfrm>
            <a:off x="331364" y="5754164"/>
            <a:ext cx="10557545" cy="369332"/>
          </a:xfrm>
          <a:prstGeom prst="rect">
            <a:avLst/>
          </a:prstGeom>
          <a:noFill/>
        </p:spPr>
        <p:txBody>
          <a:bodyPr wrap="square" rtlCol="0">
            <a:spAutoFit/>
          </a:bodyPr>
          <a:lstStyle/>
          <a:p>
            <a:r>
              <a:rPr lang="en-US" dirty="0"/>
              <a:t>(Tyurin, 2018, slide 60)</a:t>
            </a:r>
          </a:p>
        </p:txBody>
      </p:sp>
    </p:spTree>
    <p:extLst>
      <p:ext uri="{BB962C8B-B14F-4D97-AF65-F5344CB8AC3E}">
        <p14:creationId xmlns:p14="http://schemas.microsoft.com/office/powerpoint/2010/main" val="3486817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5876-2FFA-3A4D-1467-613A57EC0EA7}"/>
              </a:ext>
            </a:extLst>
          </p:cNvPr>
          <p:cNvSpPr>
            <a:spLocks noGrp="1"/>
          </p:cNvSpPr>
          <p:nvPr>
            <p:ph type="title"/>
          </p:nvPr>
        </p:nvSpPr>
        <p:spPr/>
        <p:txBody>
          <a:bodyPr/>
          <a:lstStyle/>
          <a:p>
            <a:r>
              <a:rPr lang="en-US" dirty="0"/>
              <a:t>Zero Trust Architecture (ZTA)</a:t>
            </a:r>
          </a:p>
        </p:txBody>
      </p:sp>
      <p:sp>
        <p:nvSpPr>
          <p:cNvPr id="3" name="Content Placeholder 2">
            <a:extLst>
              <a:ext uri="{FF2B5EF4-FFF2-40B4-BE49-F238E27FC236}">
                <a16:creationId xmlns:a16="http://schemas.microsoft.com/office/drawing/2014/main" id="{4532D838-5792-AD46-90FF-D03D5DBFF1DB}"/>
              </a:ext>
            </a:extLst>
          </p:cNvPr>
          <p:cNvSpPr>
            <a:spLocks noGrp="1"/>
          </p:cNvSpPr>
          <p:nvPr>
            <p:ph idx="1"/>
          </p:nvPr>
        </p:nvSpPr>
        <p:spPr>
          <a:xfrm>
            <a:off x="680321" y="2336872"/>
            <a:ext cx="9613861" cy="4078215"/>
          </a:xfrm>
        </p:spPr>
        <p:txBody>
          <a:bodyPr>
            <a:normAutofit fontScale="92500" lnSpcReduction="10000"/>
          </a:bodyPr>
          <a:lstStyle/>
          <a:p>
            <a:r>
              <a:rPr lang="en-US" dirty="0"/>
              <a:t>“This model fundamentally shifts the security paradigm by assuming that no network boundary is inherently secure.”</a:t>
            </a:r>
          </a:p>
          <a:p>
            <a:r>
              <a:rPr lang="en-US" dirty="0"/>
              <a:t>ZTA works using the following principles:</a:t>
            </a:r>
          </a:p>
          <a:p>
            <a:pPr lvl="1"/>
            <a:r>
              <a:rPr lang="en-US" dirty="0"/>
              <a:t>Continuous verification regardless of user location or resources they seek.</a:t>
            </a:r>
          </a:p>
          <a:p>
            <a:pPr lvl="1"/>
            <a:r>
              <a:rPr lang="en-US" dirty="0"/>
              <a:t>Limit “blast radius” through compartmentalization and segmentation of resources</a:t>
            </a:r>
          </a:p>
          <a:p>
            <a:pPr lvl="1"/>
            <a:r>
              <a:rPr lang="en-US" dirty="0"/>
              <a:t>Automate context collection and response incorporating behavioral data like identity, endpoints, and workloads to form a holistic overview for security incident responses.</a:t>
            </a:r>
          </a:p>
          <a:p>
            <a:r>
              <a:rPr lang="en-US" dirty="0"/>
              <a:t>This model has allowed much further progress post-COVID to allow flexible work arrangements like work-from-home, personal devices, and outside network connections to an internal company network.</a:t>
            </a:r>
          </a:p>
          <a:p>
            <a:pPr marL="0" indent="0">
              <a:buNone/>
            </a:pPr>
            <a:r>
              <a:rPr lang="en-US" dirty="0"/>
              <a:t>(</a:t>
            </a:r>
            <a:r>
              <a:rPr lang="en-US" dirty="0" err="1"/>
              <a:t>Ajish</a:t>
            </a:r>
            <a:r>
              <a:rPr lang="en-US" dirty="0"/>
              <a:t>, 2024, p.3)</a:t>
            </a:r>
          </a:p>
        </p:txBody>
      </p:sp>
    </p:spTree>
    <p:extLst>
      <p:ext uri="{BB962C8B-B14F-4D97-AF65-F5344CB8AC3E}">
        <p14:creationId xmlns:p14="http://schemas.microsoft.com/office/powerpoint/2010/main" val="1179794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2A773CA-28F4-49C2-BFA3-49A5867C7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D7C72BA-4476-4E4B-BC37-9A75FD0C5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3009A16D-868B-4145-BBC6-555098537E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4527"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3992EB33-38E1-4175-8EE2-9BB8CC159C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print">
            <a:extLst>
              <a:ext uri="{28A0092B-C50C-407E-A947-70E740481C1C}">
                <a14:useLocalDpi xmlns:a14="http://schemas.microsoft.com/office/drawing/2010/main" val="0"/>
              </a:ext>
            </a:extLst>
          </a:blip>
          <a:stretch>
            <a:fillRect/>
          </a:stretch>
        </p:blipFill>
        <p:spPr>
          <a:xfrm>
            <a:off x="1" y="5006045"/>
            <a:ext cx="4965192" cy="144668"/>
          </a:xfrm>
          <a:prstGeom prst="rect">
            <a:avLst/>
          </a:prstGeom>
        </p:spPr>
      </p:pic>
      <p:sp>
        <p:nvSpPr>
          <p:cNvPr id="17" name="Rectangle 16">
            <a:extLst>
              <a:ext uri="{FF2B5EF4-FFF2-40B4-BE49-F238E27FC236}">
                <a16:creationId xmlns:a16="http://schemas.microsoft.com/office/drawing/2014/main" id="{2DCAE5CF-5D29-4779-83E1-BDB64E4F3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38764"/>
            <a:ext cx="4964567" cy="3180473"/>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DE77D9B-E4A9-A801-A2F6-235E7BD38DEA}"/>
              </a:ext>
            </a:extLst>
          </p:cNvPr>
          <p:cNvSpPr>
            <a:spLocks noGrp="1"/>
          </p:cNvSpPr>
          <p:nvPr>
            <p:ph type="title"/>
          </p:nvPr>
        </p:nvSpPr>
        <p:spPr>
          <a:xfrm>
            <a:off x="680321" y="2063262"/>
            <a:ext cx="3739279" cy="2661052"/>
          </a:xfrm>
        </p:spPr>
        <p:txBody>
          <a:bodyPr>
            <a:normAutofit/>
          </a:bodyPr>
          <a:lstStyle/>
          <a:p>
            <a:pPr algn="r"/>
            <a:r>
              <a:rPr lang="en-US" sz="4400"/>
              <a:t>ZTA 7 Key Pillars</a:t>
            </a:r>
          </a:p>
        </p:txBody>
      </p:sp>
      <p:graphicFrame>
        <p:nvGraphicFramePr>
          <p:cNvPr id="5" name="Content Placeholder 2">
            <a:extLst>
              <a:ext uri="{FF2B5EF4-FFF2-40B4-BE49-F238E27FC236}">
                <a16:creationId xmlns:a16="http://schemas.microsoft.com/office/drawing/2014/main" id="{D3B3D41A-4753-161E-1BDD-E5B80523F21F}"/>
              </a:ext>
            </a:extLst>
          </p:cNvPr>
          <p:cNvGraphicFramePr>
            <a:graphicFrameLocks noGrp="1"/>
          </p:cNvGraphicFramePr>
          <p:nvPr>
            <p:ph idx="1"/>
            <p:extLst>
              <p:ext uri="{D42A27DB-BD31-4B8C-83A1-F6EECF244321}">
                <p14:modId xmlns:p14="http://schemas.microsoft.com/office/powerpoint/2010/main" val="102301103"/>
              </p:ext>
            </p:extLst>
          </p:nvPr>
        </p:nvGraphicFramePr>
        <p:xfrm>
          <a:off x="5284788" y="639763"/>
          <a:ext cx="6261100" cy="5578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35608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0817F-D2C5-A488-6954-E43902FC93EF}"/>
              </a:ext>
            </a:extLst>
          </p:cNvPr>
          <p:cNvSpPr>
            <a:spLocks noGrp="1"/>
          </p:cNvSpPr>
          <p:nvPr>
            <p:ph type="title"/>
          </p:nvPr>
        </p:nvSpPr>
        <p:spPr>
          <a:xfrm>
            <a:off x="680321" y="753228"/>
            <a:ext cx="9613861" cy="1080938"/>
          </a:xfrm>
        </p:spPr>
        <p:txBody>
          <a:bodyPr>
            <a:normAutofit/>
          </a:bodyPr>
          <a:lstStyle/>
          <a:p>
            <a:r>
              <a:rPr lang="en-US" dirty="0"/>
              <a:t>Zero Trust Architecture (ZTA) &amp; UNT</a:t>
            </a:r>
          </a:p>
        </p:txBody>
      </p:sp>
      <p:graphicFrame>
        <p:nvGraphicFramePr>
          <p:cNvPr id="5" name="Content Placeholder 2">
            <a:extLst>
              <a:ext uri="{FF2B5EF4-FFF2-40B4-BE49-F238E27FC236}">
                <a16:creationId xmlns:a16="http://schemas.microsoft.com/office/drawing/2014/main" id="{6F6B56DE-1E66-C65F-D671-7399529B1A84}"/>
              </a:ext>
            </a:extLst>
          </p:cNvPr>
          <p:cNvGraphicFramePr>
            <a:graphicFrameLocks noGrp="1"/>
          </p:cNvGraphicFramePr>
          <p:nvPr>
            <p:ph idx="1"/>
            <p:extLst>
              <p:ext uri="{D42A27DB-BD31-4B8C-83A1-F6EECF244321}">
                <p14:modId xmlns:p14="http://schemas.microsoft.com/office/powerpoint/2010/main" val="1493810164"/>
              </p:ext>
            </p:extLst>
          </p:nvPr>
        </p:nvGraphicFramePr>
        <p:xfrm>
          <a:off x="681037" y="2336800"/>
          <a:ext cx="10830641"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5332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B988D63-FA8B-436C-902E-E5005BC049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0" name="Rectangle 9">
              <a:extLst>
                <a:ext uri="{FF2B5EF4-FFF2-40B4-BE49-F238E27FC236}">
                  <a16:creationId xmlns:a16="http://schemas.microsoft.com/office/drawing/2014/main" id="{2FD177FB-983E-4035-8B7A-655342A7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596D9C3-C0FC-4500-A696-55B9F77BB7A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5" name="Picture 4" descr="Padlock on computer motherboard">
            <a:extLst>
              <a:ext uri="{FF2B5EF4-FFF2-40B4-BE49-F238E27FC236}">
                <a16:creationId xmlns:a16="http://schemas.microsoft.com/office/drawing/2014/main" id="{A1BF4595-E4B8-5354-8188-AD7F07E7C520}"/>
              </a:ext>
            </a:extLst>
          </p:cNvPr>
          <p:cNvPicPr>
            <a:picLocks noChangeAspect="1"/>
          </p:cNvPicPr>
          <p:nvPr/>
        </p:nvPicPr>
        <p:blipFill>
          <a:blip r:embed="rId3"/>
          <a:srcRect l="15731" r="39086"/>
          <a:stretch/>
        </p:blipFill>
        <p:spPr>
          <a:xfrm>
            <a:off x="7547810" y="10"/>
            <a:ext cx="4641013" cy="6856310"/>
          </a:xfrm>
          <a:prstGeom prst="rect">
            <a:avLst/>
          </a:prstGeom>
          <a:ln>
            <a:noFill/>
          </a:ln>
          <a:effectLst/>
        </p:spPr>
      </p:pic>
      <p:sp>
        <p:nvSpPr>
          <p:cNvPr id="13" name="Rectangle 12">
            <a:extLst>
              <a:ext uri="{FF2B5EF4-FFF2-40B4-BE49-F238E27FC236}">
                <a16:creationId xmlns:a16="http://schemas.microsoft.com/office/drawing/2014/main" id="{C493E730-2044-49B5-A022-B8D6F35934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796704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049F7B3-4794-2AAE-2333-5F3E4D6D31F6}"/>
              </a:ext>
            </a:extLst>
          </p:cNvPr>
          <p:cNvSpPr>
            <a:spLocks noGrp="1"/>
          </p:cNvSpPr>
          <p:nvPr>
            <p:ph type="title"/>
          </p:nvPr>
        </p:nvSpPr>
        <p:spPr>
          <a:xfrm>
            <a:off x="680321" y="753228"/>
            <a:ext cx="7087552" cy="1080938"/>
          </a:xfrm>
        </p:spPr>
        <p:txBody>
          <a:bodyPr>
            <a:normAutofit/>
          </a:bodyPr>
          <a:lstStyle/>
          <a:p>
            <a:r>
              <a:rPr lang="en-US" dirty="0"/>
              <a:t>The Cons of Zero Trust</a:t>
            </a:r>
          </a:p>
        </p:txBody>
      </p:sp>
      <p:pic>
        <p:nvPicPr>
          <p:cNvPr id="15" name="Picture 14">
            <a:extLst>
              <a:ext uri="{FF2B5EF4-FFF2-40B4-BE49-F238E27FC236}">
                <a16:creationId xmlns:a16="http://schemas.microsoft.com/office/drawing/2014/main" id="{78976801-4346-4636-BA62-265C81DFE7C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7967048" cy="321164"/>
          </a:xfrm>
          <a:prstGeom prst="rect">
            <a:avLst/>
          </a:prstGeom>
        </p:spPr>
      </p:pic>
      <p:sp>
        <p:nvSpPr>
          <p:cNvPr id="3" name="Content Placeholder 2">
            <a:extLst>
              <a:ext uri="{FF2B5EF4-FFF2-40B4-BE49-F238E27FC236}">
                <a16:creationId xmlns:a16="http://schemas.microsoft.com/office/drawing/2014/main" id="{C62891BE-820C-C26C-E2A9-04AD20CD32C4}"/>
              </a:ext>
            </a:extLst>
          </p:cNvPr>
          <p:cNvSpPr>
            <a:spLocks noGrp="1"/>
          </p:cNvSpPr>
          <p:nvPr>
            <p:ph idx="1"/>
          </p:nvPr>
        </p:nvSpPr>
        <p:spPr>
          <a:xfrm>
            <a:off x="680321" y="2336873"/>
            <a:ext cx="6423211" cy="3599316"/>
          </a:xfrm>
        </p:spPr>
        <p:txBody>
          <a:bodyPr>
            <a:normAutofit/>
          </a:bodyPr>
          <a:lstStyle/>
          <a:p>
            <a:r>
              <a:rPr lang="en-US" sz="1900"/>
              <a:t>At it’s most basic level, zero trust means every time a user logs in, they will be prompted to verify their identity, regardless of user behaviors, location, or IP.</a:t>
            </a:r>
          </a:p>
          <a:p>
            <a:r>
              <a:rPr lang="en-US" sz="1900"/>
              <a:t>This means depending on website time-out settings, different environments, and connecting to a secure network in the first place, you might be verifying your identity multiple times per day.</a:t>
            </a:r>
          </a:p>
          <a:p>
            <a:r>
              <a:rPr lang="en-US" sz="1900"/>
              <a:t>Anecdotally, as a student and employee I can have to verify using MFA over 12 times in a day of work and school.</a:t>
            </a:r>
          </a:p>
          <a:p>
            <a:r>
              <a:rPr lang="en-US" sz="1900"/>
              <a:t>It is a balance between User Convenience and Security.</a:t>
            </a:r>
          </a:p>
        </p:txBody>
      </p:sp>
    </p:spTree>
    <p:extLst>
      <p:ext uri="{BB962C8B-B14F-4D97-AF65-F5344CB8AC3E}">
        <p14:creationId xmlns:p14="http://schemas.microsoft.com/office/powerpoint/2010/main" val="3428457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B9A1-C230-B786-5D64-C8C73FD891EC}"/>
              </a:ext>
            </a:extLst>
          </p:cNvPr>
          <p:cNvSpPr>
            <a:spLocks noGrp="1"/>
          </p:cNvSpPr>
          <p:nvPr>
            <p:ph type="title"/>
          </p:nvPr>
        </p:nvSpPr>
        <p:spPr/>
        <p:txBody>
          <a:bodyPr/>
          <a:lstStyle/>
          <a:p>
            <a:r>
              <a:rPr lang="en-US" dirty="0"/>
              <a:t>IAM Controls -</a:t>
            </a:r>
            <a:br>
              <a:rPr lang="en-US" dirty="0"/>
            </a:br>
            <a:r>
              <a:rPr lang="en-US" dirty="0"/>
              <a:t>Lightweight Directory Access Protocol (LDAP)</a:t>
            </a:r>
          </a:p>
        </p:txBody>
      </p:sp>
      <p:sp>
        <p:nvSpPr>
          <p:cNvPr id="3" name="Content Placeholder 2">
            <a:extLst>
              <a:ext uri="{FF2B5EF4-FFF2-40B4-BE49-F238E27FC236}">
                <a16:creationId xmlns:a16="http://schemas.microsoft.com/office/drawing/2014/main" id="{921AD772-E104-135B-78FB-8EA2132A8AC6}"/>
              </a:ext>
            </a:extLst>
          </p:cNvPr>
          <p:cNvSpPr>
            <a:spLocks noGrp="1"/>
          </p:cNvSpPr>
          <p:nvPr>
            <p:ph idx="1"/>
          </p:nvPr>
        </p:nvSpPr>
        <p:spPr>
          <a:xfrm>
            <a:off x="680321" y="2336873"/>
            <a:ext cx="9613861" cy="4049640"/>
          </a:xfrm>
        </p:spPr>
        <p:txBody>
          <a:bodyPr>
            <a:normAutofit/>
          </a:bodyPr>
          <a:lstStyle/>
          <a:p>
            <a:r>
              <a:rPr lang="en-US" dirty="0"/>
              <a:t>LDAP – an internet protocol used to access a directory listing. This directory stores user profiles, and authenticating users. This allows for a single, centralized location to manage user profiles ensuring profiles are always synchronized and reduces redundancies. (Security Administration, </a:t>
            </a:r>
            <a:r>
              <a:rPr lang="en-US" dirty="0" err="1"/>
              <a:t>PeopleBooks</a:t>
            </a:r>
            <a:r>
              <a:rPr lang="en-US" dirty="0"/>
              <a:t>, 2024, pg.2)</a:t>
            </a:r>
          </a:p>
          <a:p>
            <a:r>
              <a:rPr lang="en-US" dirty="0" err="1"/>
              <a:t>Ajish</a:t>
            </a:r>
            <a:r>
              <a:rPr lang="en-US" dirty="0"/>
              <a:t> (2024, pg.9-10) also discusses how these Role-Based Access Controls like LDAP, are also fertile grounds to be automated, between analyzing user behavior, user activities, and AI there can be Role Mining and Optimizations, automated user deprovisioning, access request automation, Intelligent user profile management, and more!</a:t>
            </a:r>
          </a:p>
          <a:p>
            <a:endParaRPr lang="en-US" dirty="0"/>
          </a:p>
        </p:txBody>
      </p:sp>
    </p:spTree>
    <p:extLst>
      <p:ext uri="{BB962C8B-B14F-4D97-AF65-F5344CB8AC3E}">
        <p14:creationId xmlns:p14="http://schemas.microsoft.com/office/powerpoint/2010/main" val="1951558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610D2AE-07EF-436A-9755-AA8DF4B93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CACDD17-9043-46DF-882D-420365B79C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CF2D8AD5-434A-4C0E-9F5B-C1AFD645F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86C2499-E5E8-E709-8FA8-1146C2CBB675}"/>
              </a:ext>
            </a:extLst>
          </p:cNvPr>
          <p:cNvSpPr>
            <a:spLocks noGrp="1"/>
          </p:cNvSpPr>
          <p:nvPr>
            <p:ph type="title"/>
          </p:nvPr>
        </p:nvSpPr>
        <p:spPr>
          <a:xfrm>
            <a:off x="680321" y="753228"/>
            <a:ext cx="4136123" cy="1080938"/>
          </a:xfrm>
        </p:spPr>
        <p:txBody>
          <a:bodyPr vert="horz" lIns="91440" tIns="45720" rIns="91440" bIns="45720" rtlCol="0" anchor="ctr">
            <a:normAutofit/>
          </a:bodyPr>
          <a:lstStyle/>
          <a:p>
            <a:r>
              <a:rPr lang="en-US" sz="2400" dirty="0"/>
              <a:t>IAM Controls – Multi-Factor Authentication (MFA)</a:t>
            </a:r>
          </a:p>
        </p:txBody>
      </p:sp>
      <p:pic>
        <p:nvPicPr>
          <p:cNvPr id="17" name="Picture 16">
            <a:extLst>
              <a:ext uri="{FF2B5EF4-FFF2-40B4-BE49-F238E27FC236}">
                <a16:creationId xmlns:a16="http://schemas.microsoft.com/office/drawing/2014/main" id="{E92B246D-47CC-40F8-8DE7-B65D409E9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6" name="TextBox 5">
            <a:extLst>
              <a:ext uri="{FF2B5EF4-FFF2-40B4-BE49-F238E27FC236}">
                <a16:creationId xmlns:a16="http://schemas.microsoft.com/office/drawing/2014/main" id="{01717C3B-BDC6-9F11-E97D-8315C4ED4107}"/>
              </a:ext>
            </a:extLst>
          </p:cNvPr>
          <p:cNvSpPr txBox="1"/>
          <p:nvPr/>
        </p:nvSpPr>
        <p:spPr>
          <a:xfrm>
            <a:off x="680321" y="2336873"/>
            <a:ext cx="4136123" cy="3178102"/>
          </a:xfrm>
          <a:prstGeom prst="rect">
            <a:avLst/>
          </a:prstGeom>
        </p:spPr>
        <p:txBody>
          <a:bodyPr vert="horz" lIns="91440" tIns="45720" rIns="91440" bIns="45720" rtlCol="0">
            <a:normAutofit/>
          </a:bodyPr>
          <a:lstStyle/>
          <a:p>
            <a:pPr defTabSz="914400">
              <a:lnSpc>
                <a:spcPct val="90000"/>
              </a:lnSpc>
              <a:spcAft>
                <a:spcPts val="600"/>
              </a:spcAft>
            </a:pPr>
            <a:r>
              <a:rPr lang="en-US" sz="2400" dirty="0"/>
              <a:t>MFA security requires users to initially enter their credentials to a server, and then verify their identity using another method, typically a mobile device or phone. (Duo Security, 2024)</a:t>
            </a:r>
          </a:p>
          <a:p>
            <a:pPr defTabSz="914400">
              <a:lnSpc>
                <a:spcPct val="90000"/>
              </a:lnSpc>
              <a:spcAft>
                <a:spcPts val="600"/>
              </a:spcAft>
            </a:pPr>
            <a:endParaRPr lang="en-US" dirty="0"/>
          </a:p>
        </p:txBody>
      </p:sp>
      <p:pic>
        <p:nvPicPr>
          <p:cNvPr id="5" name="Content Placeholder 4" descr="A diagram of a software system&#10;&#10;Description automatically generated">
            <a:extLst>
              <a:ext uri="{FF2B5EF4-FFF2-40B4-BE49-F238E27FC236}">
                <a16:creationId xmlns:a16="http://schemas.microsoft.com/office/drawing/2014/main" id="{F0CBEC35-DE76-ABA7-5BB3-1010E0A3B9E3}"/>
              </a:ext>
            </a:extLst>
          </p:cNvPr>
          <p:cNvPicPr>
            <a:picLocks noGrp="1" noChangeAspect="1"/>
          </p:cNvPicPr>
          <p:nvPr>
            <p:ph idx="1"/>
          </p:nvPr>
        </p:nvPicPr>
        <p:blipFill>
          <a:blip r:embed="rId4"/>
          <a:stretch>
            <a:fillRect/>
          </a:stretch>
        </p:blipFill>
        <p:spPr>
          <a:xfrm>
            <a:off x="5276090" y="1420394"/>
            <a:ext cx="6303134" cy="3986731"/>
          </a:xfrm>
          <a:prstGeom prst="rect">
            <a:avLst/>
          </a:prstGeom>
          <a:ln>
            <a:noFill/>
          </a:ln>
          <a:effectLst>
            <a:outerShdw blurRad="76200" dist="63500" dir="5040000" algn="tl" rotWithShape="0">
              <a:srgbClr val="000000">
                <a:alpha val="41000"/>
              </a:srgbClr>
            </a:outerShdw>
          </a:effectLst>
        </p:spPr>
      </p:pic>
      <p:sp>
        <p:nvSpPr>
          <p:cNvPr id="7" name="TextBox 6">
            <a:extLst>
              <a:ext uri="{FF2B5EF4-FFF2-40B4-BE49-F238E27FC236}">
                <a16:creationId xmlns:a16="http://schemas.microsoft.com/office/drawing/2014/main" id="{27B5591A-ADCF-1F6C-C739-512A5F75EB8F}"/>
              </a:ext>
            </a:extLst>
          </p:cNvPr>
          <p:cNvSpPr txBox="1"/>
          <p:nvPr/>
        </p:nvSpPr>
        <p:spPr>
          <a:xfrm>
            <a:off x="5238926" y="5514975"/>
            <a:ext cx="6197686" cy="646331"/>
          </a:xfrm>
          <a:prstGeom prst="rect">
            <a:avLst/>
          </a:prstGeom>
          <a:noFill/>
        </p:spPr>
        <p:txBody>
          <a:bodyPr wrap="square" rtlCol="0">
            <a:spAutoFit/>
          </a:bodyPr>
          <a:lstStyle/>
          <a:p>
            <a:r>
              <a:rPr lang="en-US" dirty="0"/>
              <a:t>(Cisco Duo, 2024)</a:t>
            </a:r>
          </a:p>
          <a:p>
            <a:endParaRPr lang="en-US" dirty="0"/>
          </a:p>
        </p:txBody>
      </p:sp>
    </p:spTree>
    <p:extLst>
      <p:ext uri="{BB962C8B-B14F-4D97-AF65-F5344CB8AC3E}">
        <p14:creationId xmlns:p14="http://schemas.microsoft.com/office/powerpoint/2010/main" val="2541809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2489-3378-2ACD-433A-AF562258009A}"/>
              </a:ext>
            </a:extLst>
          </p:cNvPr>
          <p:cNvSpPr>
            <a:spLocks noGrp="1"/>
          </p:cNvSpPr>
          <p:nvPr>
            <p:ph type="title"/>
          </p:nvPr>
        </p:nvSpPr>
        <p:spPr/>
        <p:txBody>
          <a:bodyPr/>
          <a:lstStyle/>
          <a:p>
            <a:r>
              <a:rPr lang="en-US" dirty="0"/>
              <a:t>Student Perspective</a:t>
            </a:r>
          </a:p>
        </p:txBody>
      </p:sp>
      <p:sp>
        <p:nvSpPr>
          <p:cNvPr id="3" name="Content Placeholder 2">
            <a:extLst>
              <a:ext uri="{FF2B5EF4-FFF2-40B4-BE49-F238E27FC236}">
                <a16:creationId xmlns:a16="http://schemas.microsoft.com/office/drawing/2014/main" id="{D3D4ADB0-88E1-B739-30A2-1B6C2BE42255}"/>
              </a:ext>
            </a:extLst>
          </p:cNvPr>
          <p:cNvSpPr>
            <a:spLocks noGrp="1"/>
          </p:cNvSpPr>
          <p:nvPr>
            <p:ph idx="1"/>
          </p:nvPr>
        </p:nvSpPr>
        <p:spPr>
          <a:xfrm>
            <a:off x="680321" y="2336873"/>
            <a:ext cx="9613861" cy="4227512"/>
          </a:xfrm>
        </p:spPr>
        <p:txBody>
          <a:bodyPr>
            <a:normAutofit/>
          </a:bodyPr>
          <a:lstStyle/>
          <a:p>
            <a:r>
              <a:rPr lang="en-US" dirty="0"/>
              <a:t>Using user profiles, student accounts can be given basic access for self-service activities like looking at a student account, grades, or enrolling in classes.</a:t>
            </a:r>
          </a:p>
          <a:p>
            <a:r>
              <a:rPr lang="en-US" dirty="0"/>
              <a:t>Students may log in once a day, or twice a year, depending on their engagement with the PS applications.</a:t>
            </a:r>
          </a:p>
          <a:p>
            <a:r>
              <a:rPr lang="en-US" dirty="0"/>
              <a:t>User locations can vary across the world as UNT Students can come from anywhere.</a:t>
            </a:r>
          </a:p>
          <a:p>
            <a:r>
              <a:rPr lang="en-US" dirty="0"/>
              <a:t>User devices can vary widely.</a:t>
            </a:r>
          </a:p>
          <a:p>
            <a:r>
              <a:rPr lang="en-US" dirty="0"/>
              <a:t>Because these user profiles log-in less, have limited access to the database, and no access to run database wide processes, they could be considered low-risk accounts.</a:t>
            </a:r>
          </a:p>
        </p:txBody>
      </p:sp>
    </p:spTree>
    <p:extLst>
      <p:ext uri="{BB962C8B-B14F-4D97-AF65-F5344CB8AC3E}">
        <p14:creationId xmlns:p14="http://schemas.microsoft.com/office/powerpoint/2010/main" val="2965674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088E-A2AD-0E07-999E-8376F0CFE4FE}"/>
              </a:ext>
            </a:extLst>
          </p:cNvPr>
          <p:cNvSpPr>
            <a:spLocks noGrp="1"/>
          </p:cNvSpPr>
          <p:nvPr>
            <p:ph type="title"/>
          </p:nvPr>
        </p:nvSpPr>
        <p:spPr/>
        <p:txBody>
          <a:bodyPr/>
          <a:lstStyle/>
          <a:p>
            <a:r>
              <a:rPr lang="en-US" dirty="0"/>
              <a:t>Employee Perspective</a:t>
            </a:r>
          </a:p>
        </p:txBody>
      </p:sp>
      <p:sp>
        <p:nvSpPr>
          <p:cNvPr id="3" name="Content Placeholder 2">
            <a:extLst>
              <a:ext uri="{FF2B5EF4-FFF2-40B4-BE49-F238E27FC236}">
                <a16:creationId xmlns:a16="http://schemas.microsoft.com/office/drawing/2014/main" id="{3C49F777-8F01-0AF5-3387-DC2C6847CA22}"/>
              </a:ext>
            </a:extLst>
          </p:cNvPr>
          <p:cNvSpPr>
            <a:spLocks noGrp="1"/>
          </p:cNvSpPr>
          <p:nvPr>
            <p:ph idx="1"/>
          </p:nvPr>
        </p:nvSpPr>
        <p:spPr>
          <a:xfrm>
            <a:off x="680321" y="2336872"/>
            <a:ext cx="9613861" cy="4298819"/>
          </a:xfrm>
        </p:spPr>
        <p:txBody>
          <a:bodyPr>
            <a:normAutofit fontScale="92500" lnSpcReduction="10000"/>
          </a:bodyPr>
          <a:lstStyle/>
          <a:p>
            <a:r>
              <a:rPr lang="en-US" dirty="0"/>
              <a:t>Depending on your employment at the university, your access, roles, and permissions will vary widely but these are controlled by assigned user profiles.</a:t>
            </a:r>
          </a:p>
          <a:p>
            <a:r>
              <a:rPr lang="en-US" dirty="0"/>
              <a:t>These permissions might include view/read/write access to the database, including running batch processes which affect the entire database.</a:t>
            </a:r>
          </a:p>
          <a:p>
            <a:r>
              <a:rPr lang="en-US" dirty="0"/>
              <a:t>Employees also may have access to Personally Identifiable Information (PII) such as Social Security number, e-mail addresses, location, etc.</a:t>
            </a:r>
          </a:p>
          <a:p>
            <a:r>
              <a:rPr lang="en-US" dirty="0"/>
              <a:t>Employees are also more likely to log in, depending on their role, and are also required to log into more PS applications which students do not know exist.</a:t>
            </a:r>
          </a:p>
          <a:p>
            <a:r>
              <a:rPr lang="en-US" dirty="0"/>
              <a:t>Employee devices and networks can vary widely.</a:t>
            </a:r>
          </a:p>
          <a:p>
            <a:r>
              <a:rPr lang="en-US" dirty="0"/>
              <a:t>These factors would make some employee user profiles high risk.</a:t>
            </a:r>
          </a:p>
        </p:txBody>
      </p:sp>
    </p:spTree>
    <p:extLst>
      <p:ext uri="{BB962C8B-B14F-4D97-AF65-F5344CB8AC3E}">
        <p14:creationId xmlns:p14="http://schemas.microsoft.com/office/powerpoint/2010/main" val="3817029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8DF5C3E-BDAB-40E6-A40B-8C05D8CD3F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a:gradFill>
            <a:gsLst>
              <a:gs pos="0">
                <a:srgbClr val="F78925"/>
              </a:gs>
              <a:gs pos="50000">
                <a:srgbClr val="D54209"/>
              </a:gs>
              <a:gs pos="100000">
                <a:srgbClr val="8D0000"/>
              </a:gs>
            </a:gsLst>
            <a:lin ang="2520000" scaled="0"/>
          </a:gradFill>
        </p:spPr>
      </p:pic>
      <p:pic>
        <p:nvPicPr>
          <p:cNvPr id="12" name="Picture 11">
            <a:extLst>
              <a:ext uri="{FF2B5EF4-FFF2-40B4-BE49-F238E27FC236}">
                <a16:creationId xmlns:a16="http://schemas.microsoft.com/office/drawing/2014/main" id="{9D90C31A-86E3-472B-B929-496667598E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9DD3589A-DB65-424B-ACF1-5C8155F1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F784D76-D302-4160-A2D4-C2F4AB76D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110B70F-2B6B-F270-6D8E-3F7736BD412A}"/>
              </a:ext>
            </a:extLst>
          </p:cNvPr>
          <p:cNvSpPr>
            <a:spLocks noGrp="1"/>
          </p:cNvSpPr>
          <p:nvPr>
            <p:ph type="title"/>
          </p:nvPr>
        </p:nvSpPr>
        <p:spPr>
          <a:xfrm>
            <a:off x="680321" y="753228"/>
            <a:ext cx="5584677" cy="1080938"/>
          </a:xfrm>
        </p:spPr>
        <p:txBody>
          <a:bodyPr>
            <a:normAutofit/>
          </a:bodyPr>
          <a:lstStyle/>
          <a:p>
            <a:r>
              <a:rPr lang="en-US">
                <a:solidFill>
                  <a:srgbClr val="FFFFFF"/>
                </a:solidFill>
              </a:rPr>
              <a:t>Leveraging AI for MFA</a:t>
            </a:r>
          </a:p>
        </p:txBody>
      </p:sp>
      <p:pic>
        <p:nvPicPr>
          <p:cNvPr id="18" name="Picture 17">
            <a:extLst>
              <a:ext uri="{FF2B5EF4-FFF2-40B4-BE49-F238E27FC236}">
                <a16:creationId xmlns:a16="http://schemas.microsoft.com/office/drawing/2014/main" id="{608D9710-1A5F-4D24-B654-F2081DE6014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3" name="Content Placeholder 2">
            <a:extLst>
              <a:ext uri="{FF2B5EF4-FFF2-40B4-BE49-F238E27FC236}">
                <a16:creationId xmlns:a16="http://schemas.microsoft.com/office/drawing/2014/main" id="{B0C67EBA-B55C-88A6-56BB-BFAB9CDE6255}"/>
              </a:ext>
            </a:extLst>
          </p:cNvPr>
          <p:cNvSpPr>
            <a:spLocks noGrp="1"/>
          </p:cNvSpPr>
          <p:nvPr>
            <p:ph idx="1"/>
          </p:nvPr>
        </p:nvSpPr>
        <p:spPr>
          <a:xfrm>
            <a:off x="680321" y="1977794"/>
            <a:ext cx="5104843" cy="4708756"/>
          </a:xfrm>
        </p:spPr>
        <p:txBody>
          <a:bodyPr>
            <a:noAutofit/>
          </a:bodyPr>
          <a:lstStyle/>
          <a:p>
            <a:pPr marL="0" indent="0">
              <a:buNone/>
            </a:pPr>
            <a:r>
              <a:rPr lang="en-US" sz="1600" dirty="0">
                <a:solidFill>
                  <a:srgbClr val="FFFFFF"/>
                </a:solidFill>
              </a:rPr>
              <a:t>Called Adaptive MFA (AMFA) dynamic implementation of MFA which establishes baseline user profiles based on:</a:t>
            </a:r>
          </a:p>
          <a:p>
            <a:pPr lvl="1"/>
            <a:r>
              <a:rPr lang="en-US" sz="1600" dirty="0">
                <a:solidFill>
                  <a:srgbClr val="FFFFFF"/>
                </a:solidFill>
              </a:rPr>
              <a:t>Device Profile – The system originating the request</a:t>
            </a:r>
          </a:p>
          <a:p>
            <a:pPr lvl="1"/>
            <a:r>
              <a:rPr lang="en-US" sz="1600" dirty="0">
                <a:solidFill>
                  <a:srgbClr val="FFFFFF"/>
                </a:solidFill>
              </a:rPr>
              <a:t>Location – Using IP addresses to filter traffic by IP or locations</a:t>
            </a:r>
          </a:p>
          <a:p>
            <a:pPr lvl="1"/>
            <a:r>
              <a:rPr lang="en-US" sz="1600" dirty="0">
                <a:solidFill>
                  <a:srgbClr val="FFFFFF"/>
                </a:solidFill>
              </a:rPr>
              <a:t>User Behavior – Used to create a baseline of activity for a user profile, and helps in defining a user’s risk level.</a:t>
            </a:r>
          </a:p>
          <a:p>
            <a:pPr lvl="1"/>
            <a:r>
              <a:rPr lang="en-US" sz="1600" dirty="0">
                <a:solidFill>
                  <a:srgbClr val="FFFFFF"/>
                </a:solidFill>
              </a:rPr>
              <a:t>Risk – based on previous features, there account would be deemed as either low-risk, medium-risk, or high-risk</a:t>
            </a:r>
          </a:p>
          <a:p>
            <a:pPr marL="0" indent="0">
              <a:buNone/>
            </a:pPr>
            <a:r>
              <a:rPr lang="en-US" sz="1600" dirty="0">
                <a:solidFill>
                  <a:srgbClr val="FFFFFF"/>
                </a:solidFill>
              </a:rPr>
              <a:t>Using the above features, users are assessed for risk level of an account, and can be allowed either SSO, MFA, or more rigorous authentication.</a:t>
            </a:r>
          </a:p>
          <a:p>
            <a:pPr marL="0" indent="0">
              <a:buNone/>
            </a:pPr>
            <a:r>
              <a:rPr lang="en-US" sz="1600" dirty="0" err="1">
                <a:solidFill>
                  <a:srgbClr val="FFFFFF"/>
                </a:solidFill>
              </a:rPr>
              <a:t>Ajish</a:t>
            </a:r>
            <a:r>
              <a:rPr lang="en-US" sz="1600" dirty="0">
                <a:solidFill>
                  <a:srgbClr val="FFFFFF"/>
                </a:solidFill>
              </a:rPr>
              <a:t>, 2024, Pg.13</a:t>
            </a:r>
          </a:p>
        </p:txBody>
      </p:sp>
      <p:sp useBgFill="1">
        <p:nvSpPr>
          <p:cNvPr id="20" name="Rectangle 19">
            <a:extLst>
              <a:ext uri="{FF2B5EF4-FFF2-40B4-BE49-F238E27FC236}">
                <a16:creationId xmlns:a16="http://schemas.microsoft.com/office/drawing/2014/main" id="{2B57E7D2-A94B-4A8D-B58F-D3E30C235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policy framework&#10;&#10;Description automatically generated">
            <a:extLst>
              <a:ext uri="{FF2B5EF4-FFF2-40B4-BE49-F238E27FC236}">
                <a16:creationId xmlns:a16="http://schemas.microsoft.com/office/drawing/2014/main" id="{7263151A-692F-7C79-D8F0-8E0026568CF6}"/>
              </a:ext>
            </a:extLst>
          </p:cNvPr>
          <p:cNvPicPr>
            <a:picLocks noChangeAspect="1"/>
          </p:cNvPicPr>
          <p:nvPr/>
        </p:nvPicPr>
        <p:blipFill>
          <a:blip r:embed="rId5"/>
          <a:stretch>
            <a:fillRect/>
          </a:stretch>
        </p:blipFill>
        <p:spPr>
          <a:xfrm>
            <a:off x="7043933" y="2401890"/>
            <a:ext cx="4178419" cy="2047425"/>
          </a:xfrm>
          <a:prstGeom prst="rect">
            <a:avLst/>
          </a:prstGeom>
          <a:ln>
            <a:noFill/>
          </a:ln>
          <a:effectLst/>
        </p:spPr>
      </p:pic>
    </p:spTree>
    <p:extLst>
      <p:ext uri="{BB962C8B-B14F-4D97-AF65-F5344CB8AC3E}">
        <p14:creationId xmlns:p14="http://schemas.microsoft.com/office/powerpoint/2010/main" val="2487581946"/>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97BC5-DD37-D89C-82CE-C0449510D7CA}"/>
              </a:ext>
            </a:extLst>
          </p:cNvPr>
          <p:cNvSpPr>
            <a:spLocks noGrp="1"/>
          </p:cNvSpPr>
          <p:nvPr>
            <p:ph type="title"/>
          </p:nvPr>
        </p:nvSpPr>
        <p:spPr/>
        <p:txBody>
          <a:bodyPr/>
          <a:lstStyle/>
          <a:p>
            <a:r>
              <a:rPr lang="en-US" dirty="0"/>
              <a:t>AMFA &amp; ZTA</a:t>
            </a:r>
          </a:p>
        </p:txBody>
      </p:sp>
      <p:sp>
        <p:nvSpPr>
          <p:cNvPr id="3" name="Content Placeholder 2">
            <a:extLst>
              <a:ext uri="{FF2B5EF4-FFF2-40B4-BE49-F238E27FC236}">
                <a16:creationId xmlns:a16="http://schemas.microsoft.com/office/drawing/2014/main" id="{580348DE-F166-DD43-FF89-4E25F3F21EDA}"/>
              </a:ext>
            </a:extLst>
          </p:cNvPr>
          <p:cNvSpPr>
            <a:spLocks noGrp="1"/>
          </p:cNvSpPr>
          <p:nvPr>
            <p:ph idx="1"/>
          </p:nvPr>
        </p:nvSpPr>
        <p:spPr/>
        <p:txBody>
          <a:bodyPr/>
          <a:lstStyle/>
          <a:p>
            <a:r>
              <a:rPr lang="en-US" dirty="0" err="1"/>
              <a:t>Ajish</a:t>
            </a:r>
            <a:r>
              <a:rPr lang="en-US" dirty="0"/>
              <a:t> (2024, pg.14) argues that AFMA strengthens ZTA by allowing for:</a:t>
            </a:r>
          </a:p>
          <a:p>
            <a:pPr lvl="1"/>
            <a:r>
              <a:rPr lang="en-US" dirty="0"/>
              <a:t>Contextual Verification – device profiles, location awareness, and user behavior.</a:t>
            </a:r>
          </a:p>
          <a:p>
            <a:pPr lvl="1"/>
            <a:r>
              <a:rPr lang="en-US" dirty="0"/>
              <a:t>Risk-Based authentication – based on risk, adjust user sign-in requirements.</a:t>
            </a:r>
          </a:p>
          <a:p>
            <a:pPr lvl="1"/>
            <a:r>
              <a:rPr lang="en-US" dirty="0"/>
              <a:t>Biometric and Token Authentication – Enhance security.</a:t>
            </a:r>
          </a:p>
          <a:p>
            <a:pPr lvl="1"/>
            <a:r>
              <a:rPr lang="en-US" dirty="0"/>
              <a:t>Location-agnostic Access – Users can connect from any network and be verified by AMFA.</a:t>
            </a:r>
          </a:p>
          <a:p>
            <a:pPr lvl="1"/>
            <a:r>
              <a:rPr lang="en-US" dirty="0"/>
              <a:t>Scalability and Cloud Readiness</a:t>
            </a:r>
          </a:p>
        </p:txBody>
      </p:sp>
    </p:spTree>
    <p:extLst>
      <p:ext uri="{BB962C8B-B14F-4D97-AF65-F5344CB8AC3E}">
        <p14:creationId xmlns:p14="http://schemas.microsoft.com/office/powerpoint/2010/main" val="242772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610D2AE-07EF-436A-9755-AA8DF4B93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CACDD17-9043-46DF-882D-420365B79C1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Rectangle 13">
            <a:extLst>
              <a:ext uri="{FF2B5EF4-FFF2-40B4-BE49-F238E27FC236}">
                <a16:creationId xmlns:a16="http://schemas.microsoft.com/office/drawing/2014/main" id="{CF2D8AD5-434A-4C0E-9F5B-C1AFD645F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05F1832-0BDD-2BDC-325D-E4EBB3362DE0}"/>
              </a:ext>
            </a:extLst>
          </p:cNvPr>
          <p:cNvSpPr>
            <a:spLocks noGrp="1"/>
          </p:cNvSpPr>
          <p:nvPr>
            <p:ph type="title"/>
          </p:nvPr>
        </p:nvSpPr>
        <p:spPr>
          <a:xfrm>
            <a:off x="680321" y="753228"/>
            <a:ext cx="4136123" cy="1080938"/>
          </a:xfrm>
        </p:spPr>
        <p:txBody>
          <a:bodyPr>
            <a:normAutofit/>
          </a:bodyPr>
          <a:lstStyle/>
          <a:p>
            <a:r>
              <a:rPr lang="en-US" sz="2400"/>
              <a:t>Continuous User Authentication</a:t>
            </a:r>
          </a:p>
        </p:txBody>
      </p:sp>
      <p:pic>
        <p:nvPicPr>
          <p:cNvPr id="16" name="Picture 15">
            <a:extLst>
              <a:ext uri="{FF2B5EF4-FFF2-40B4-BE49-F238E27FC236}">
                <a16:creationId xmlns:a16="http://schemas.microsoft.com/office/drawing/2014/main" id="{E92B246D-47CC-40F8-8DE7-B65D409E94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3" name="Content Placeholder 2">
            <a:extLst>
              <a:ext uri="{FF2B5EF4-FFF2-40B4-BE49-F238E27FC236}">
                <a16:creationId xmlns:a16="http://schemas.microsoft.com/office/drawing/2014/main" id="{934B2D95-22F8-0DB4-7AF3-2B7632D86140}"/>
              </a:ext>
            </a:extLst>
          </p:cNvPr>
          <p:cNvSpPr>
            <a:spLocks noGrp="1"/>
          </p:cNvSpPr>
          <p:nvPr>
            <p:ph idx="1"/>
          </p:nvPr>
        </p:nvSpPr>
        <p:spPr>
          <a:xfrm>
            <a:off x="680321" y="2336872"/>
            <a:ext cx="4136123" cy="4152011"/>
          </a:xfrm>
        </p:spPr>
        <p:txBody>
          <a:bodyPr>
            <a:normAutofit/>
          </a:bodyPr>
          <a:lstStyle/>
          <a:p>
            <a:r>
              <a:rPr lang="en-US" sz="1800" dirty="0"/>
              <a:t>Another use case of AI beyond AMFA would be using user profiles and user behaviors to detect anomalies or unusual behaviors which would prompt another verification check. (</a:t>
            </a:r>
            <a:r>
              <a:rPr lang="en-US" sz="1800" dirty="0" err="1"/>
              <a:t>Ajish</a:t>
            </a:r>
            <a:r>
              <a:rPr lang="en-US" sz="1800" dirty="0"/>
              <a:t>, 2024, pg. 7-8)</a:t>
            </a:r>
          </a:p>
          <a:p>
            <a:r>
              <a:rPr lang="en-US" sz="1800" dirty="0"/>
              <a:t>This means that even if a bad-actor could get access to a student account and spoof their token, that subsequent suspicious activity like mass-downloading files could flag the account for another verification check.</a:t>
            </a:r>
          </a:p>
        </p:txBody>
      </p:sp>
      <p:pic>
        <p:nvPicPr>
          <p:cNvPr id="5" name="Picture 4">
            <a:extLst>
              <a:ext uri="{FF2B5EF4-FFF2-40B4-BE49-F238E27FC236}">
                <a16:creationId xmlns:a16="http://schemas.microsoft.com/office/drawing/2014/main" id="{780F9F43-E90B-BF50-F3A4-CD4159290627}"/>
              </a:ext>
            </a:extLst>
          </p:cNvPr>
          <p:cNvPicPr>
            <a:picLocks noChangeAspect="1"/>
          </p:cNvPicPr>
          <p:nvPr/>
        </p:nvPicPr>
        <p:blipFill>
          <a:blip r:embed="rId4"/>
          <a:stretch>
            <a:fillRect/>
          </a:stretch>
        </p:blipFill>
        <p:spPr>
          <a:xfrm>
            <a:off x="5276090" y="1113116"/>
            <a:ext cx="6303134" cy="4601287"/>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026324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64C49-913F-F0D9-745D-B25F80882714}"/>
              </a:ext>
            </a:extLst>
          </p:cNvPr>
          <p:cNvSpPr>
            <a:spLocks noGrp="1"/>
          </p:cNvSpPr>
          <p:nvPr>
            <p:ph type="title"/>
          </p:nvPr>
        </p:nvSpPr>
        <p:spPr/>
        <p:txBody>
          <a:bodyPr/>
          <a:lstStyle/>
          <a:p>
            <a:r>
              <a:rPr lang="en-US" dirty="0"/>
              <a:t>Intelligent User Profile Management</a:t>
            </a:r>
            <a:br>
              <a:rPr lang="en-US" dirty="0"/>
            </a:br>
            <a:r>
              <a:rPr lang="en-US" dirty="0"/>
              <a:t>&amp; Access Reviews</a:t>
            </a:r>
          </a:p>
        </p:txBody>
      </p:sp>
      <p:sp>
        <p:nvSpPr>
          <p:cNvPr id="3" name="Content Placeholder 2">
            <a:extLst>
              <a:ext uri="{FF2B5EF4-FFF2-40B4-BE49-F238E27FC236}">
                <a16:creationId xmlns:a16="http://schemas.microsoft.com/office/drawing/2014/main" id="{1F1ED885-C1A1-6E9C-012E-1F8071455659}"/>
              </a:ext>
            </a:extLst>
          </p:cNvPr>
          <p:cNvSpPr>
            <a:spLocks noGrp="1"/>
          </p:cNvSpPr>
          <p:nvPr>
            <p:ph idx="1"/>
          </p:nvPr>
        </p:nvSpPr>
        <p:spPr>
          <a:xfrm>
            <a:off x="680321" y="2336872"/>
            <a:ext cx="9613861" cy="4042955"/>
          </a:xfrm>
        </p:spPr>
        <p:txBody>
          <a:bodyPr>
            <a:normAutofit/>
          </a:bodyPr>
          <a:lstStyle/>
          <a:p>
            <a:r>
              <a:rPr lang="en-US" dirty="0"/>
              <a:t>With all the various job titles, departments, and divisions, in a company it can become extremely granular the amount of management that goes into processing security requests and user profiles.</a:t>
            </a:r>
          </a:p>
          <a:p>
            <a:r>
              <a:rPr lang="en-US" dirty="0"/>
              <a:t>With AI it is possible to monitor and track user activities which could assist in de/provisioning or changing User Profile permissions. (</a:t>
            </a:r>
            <a:r>
              <a:rPr lang="en-US" dirty="0" err="1"/>
              <a:t>Ajish</a:t>
            </a:r>
            <a:r>
              <a:rPr lang="en-US" dirty="0"/>
              <a:t>, 2024, pg.11)</a:t>
            </a:r>
          </a:p>
          <a:p>
            <a:r>
              <a:rPr lang="en-US" dirty="0"/>
              <a:t>Hypothetically, a company could use unsupervised machine learning to identify commonalities in user profiles in order to consolidate roles and permissions ensuring less manual management.</a:t>
            </a:r>
          </a:p>
        </p:txBody>
      </p:sp>
    </p:spTree>
    <p:extLst>
      <p:ext uri="{BB962C8B-B14F-4D97-AF65-F5344CB8AC3E}">
        <p14:creationId xmlns:p14="http://schemas.microsoft.com/office/powerpoint/2010/main" val="3357966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B4C03-45FC-F99E-71BE-64CFD15A04D2}"/>
              </a:ext>
            </a:extLst>
          </p:cNvPr>
          <p:cNvSpPr>
            <a:spLocks noGrp="1"/>
          </p:cNvSpPr>
          <p:nvPr>
            <p:ph type="title"/>
          </p:nvPr>
        </p:nvSpPr>
        <p:spPr/>
        <p:txBody>
          <a:bodyPr/>
          <a:lstStyle/>
          <a:p>
            <a:r>
              <a:rPr lang="en-US" dirty="0"/>
              <a:t>Leveraging AI for IAM &amp;</a:t>
            </a:r>
            <a:br>
              <a:rPr lang="en-US" dirty="0"/>
            </a:br>
            <a:r>
              <a:rPr lang="en-US" dirty="0"/>
              <a:t>Network Security and Communication</a:t>
            </a:r>
          </a:p>
        </p:txBody>
      </p:sp>
      <p:sp>
        <p:nvSpPr>
          <p:cNvPr id="3" name="Content Placeholder 2">
            <a:extLst>
              <a:ext uri="{FF2B5EF4-FFF2-40B4-BE49-F238E27FC236}">
                <a16:creationId xmlns:a16="http://schemas.microsoft.com/office/drawing/2014/main" id="{F4D4BBBB-7E40-2453-A5BD-D263BCD2E477}"/>
              </a:ext>
            </a:extLst>
          </p:cNvPr>
          <p:cNvSpPr>
            <a:spLocks noGrp="1"/>
          </p:cNvSpPr>
          <p:nvPr>
            <p:ph idx="1"/>
          </p:nvPr>
        </p:nvSpPr>
        <p:spPr>
          <a:xfrm>
            <a:off x="680321" y="2336872"/>
            <a:ext cx="9613861" cy="4178227"/>
          </a:xfrm>
        </p:spPr>
        <p:txBody>
          <a:bodyPr>
            <a:normAutofit/>
          </a:bodyPr>
          <a:lstStyle/>
          <a:p>
            <a:r>
              <a:rPr lang="en-US" dirty="0"/>
              <a:t>While AMFA is just a small piece of the larger security problems, AI is able to help in the following as well:</a:t>
            </a:r>
          </a:p>
          <a:p>
            <a:pPr lvl="1"/>
            <a:r>
              <a:rPr lang="en-US" dirty="0"/>
              <a:t>Voice, Speech, or Facial recognition</a:t>
            </a:r>
          </a:p>
          <a:p>
            <a:pPr lvl="1"/>
            <a:r>
              <a:rPr lang="en-US" dirty="0"/>
              <a:t>Role Creation &amp; Permission Assignments</a:t>
            </a:r>
          </a:p>
          <a:p>
            <a:pPr lvl="1"/>
            <a:r>
              <a:rPr lang="en-US" dirty="0"/>
              <a:t>Continuous Role Review</a:t>
            </a:r>
          </a:p>
          <a:p>
            <a:pPr lvl="1"/>
            <a:r>
              <a:rPr lang="en-US" dirty="0"/>
              <a:t>Continuous Compliance Monitoring</a:t>
            </a:r>
          </a:p>
          <a:p>
            <a:pPr lvl="1"/>
            <a:r>
              <a:rPr lang="en-US" dirty="0"/>
              <a:t>Automated Audit Trail Generation</a:t>
            </a:r>
          </a:p>
          <a:p>
            <a:pPr lvl="1"/>
            <a:r>
              <a:rPr lang="en-US" dirty="0"/>
              <a:t>Anomaly Detection</a:t>
            </a:r>
          </a:p>
          <a:p>
            <a:pPr lvl="1"/>
            <a:r>
              <a:rPr lang="en-US" dirty="0"/>
              <a:t>Zero Trust Network Access (pg. 16)</a:t>
            </a:r>
          </a:p>
          <a:p>
            <a:pPr lvl="1"/>
            <a:r>
              <a:rPr lang="en-US" dirty="0"/>
              <a:t>And much, much more!</a:t>
            </a:r>
          </a:p>
          <a:p>
            <a:pPr marL="457200" lvl="1" indent="0">
              <a:buNone/>
            </a:pPr>
            <a:r>
              <a:rPr lang="en-US" dirty="0"/>
              <a:t>(</a:t>
            </a:r>
            <a:r>
              <a:rPr lang="en-US" dirty="0" err="1"/>
              <a:t>Ajish</a:t>
            </a:r>
            <a:r>
              <a:rPr lang="en-US" dirty="0"/>
              <a:t>, 2024, pg. 7-13)</a:t>
            </a:r>
          </a:p>
          <a:p>
            <a:pPr lvl="1"/>
            <a:endParaRPr lang="en-US" dirty="0"/>
          </a:p>
          <a:p>
            <a:pPr lvl="1"/>
            <a:endParaRPr lang="en-US" dirty="0"/>
          </a:p>
        </p:txBody>
      </p:sp>
    </p:spTree>
    <p:extLst>
      <p:ext uri="{BB962C8B-B14F-4D97-AF65-F5344CB8AC3E}">
        <p14:creationId xmlns:p14="http://schemas.microsoft.com/office/powerpoint/2010/main" val="10792613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6FFC4-3746-15C0-236A-FA4E912A2E0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40E041C-3FDD-7C03-8BA5-3155A19EE7CB}"/>
              </a:ext>
            </a:extLst>
          </p:cNvPr>
          <p:cNvSpPr>
            <a:spLocks noGrp="1"/>
          </p:cNvSpPr>
          <p:nvPr>
            <p:ph idx="1"/>
          </p:nvPr>
        </p:nvSpPr>
        <p:spPr/>
        <p:txBody>
          <a:bodyPr>
            <a:normAutofit fontScale="92500" lnSpcReduction="10000"/>
          </a:bodyPr>
          <a:lstStyle/>
          <a:p>
            <a:pPr indent="228600"/>
            <a:r>
              <a:rPr lang="en-US" sz="1600" b="0" i="0" dirty="0">
                <a:effectLst/>
              </a:rPr>
              <a:t>Deane, A.J. &amp; Kraus, A. (2021). </a:t>
            </a:r>
            <a:r>
              <a:rPr lang="en-US" sz="1600" b="1" i="0" dirty="0">
                <a:effectLst/>
              </a:rPr>
              <a:t>Domain 8: Software Development Security </a:t>
            </a:r>
            <a:r>
              <a:rPr lang="en-US" sz="1600" b="0" i="0" dirty="0">
                <a:effectLst/>
              </a:rPr>
              <a:t>(</a:t>
            </a:r>
            <a:r>
              <a:rPr lang="en-US" sz="1600" b="1" i="0" dirty="0">
                <a:effectLst/>
              </a:rPr>
              <a:t>p. 594-624</a:t>
            </a:r>
            <a:r>
              <a:rPr lang="en-US" sz="1600" b="0" i="0" dirty="0">
                <a:effectLst/>
              </a:rPr>
              <a:t>), </a:t>
            </a:r>
            <a:r>
              <a:rPr lang="en-US" sz="1600" b="0" i="1" u="sng" dirty="0">
                <a:effectLst/>
                <a:hlinkClick r:id="rId2">
                  <a:extLst>
                    <a:ext uri="{A12FA001-AC4F-418D-AE19-62706E023703}">
                      <ahyp:hlinkClr xmlns:ahyp="http://schemas.microsoft.com/office/drawing/2018/hyperlinkcolor" val="tx"/>
                    </a:ext>
                  </a:extLst>
                </a:hlinkClick>
              </a:rPr>
              <a:t>Official (ISC)² Guide to the CISSP CBK</a:t>
            </a:r>
            <a:r>
              <a:rPr lang="en-US" sz="1600" b="0" i="1" dirty="0">
                <a:effectLst/>
              </a:rPr>
              <a:t>, Sixth Edition</a:t>
            </a:r>
            <a:r>
              <a:rPr lang="en-US" sz="1600" b="0" i="0" dirty="0">
                <a:effectLst/>
              </a:rPr>
              <a:t>, Wiley.</a:t>
            </a:r>
            <a:endParaRPr lang="en-US" sz="1600" dirty="0"/>
          </a:p>
          <a:p>
            <a:pPr indent="228600"/>
            <a:r>
              <a:rPr lang="en-US" sz="1600" kern="100" dirty="0" err="1">
                <a:effectLst/>
                <a:ea typeface="Aptos" panose="020B0004020202020204" pitchFamily="34" charset="0"/>
                <a:cs typeface="Times New Roman" panose="02020603050405020304" pitchFamily="18" charset="0"/>
              </a:rPr>
              <a:t>Ajish</a:t>
            </a:r>
            <a:r>
              <a:rPr lang="en-US" sz="1600" kern="100" dirty="0">
                <a:effectLst/>
                <a:ea typeface="Aptos" panose="020B0004020202020204" pitchFamily="34" charset="0"/>
                <a:cs typeface="Times New Roman" panose="02020603050405020304" pitchFamily="18" charset="0"/>
              </a:rPr>
              <a:t>, D. The significance of artificial intelligence in zero trust technologies: a comprehensive review. </a:t>
            </a:r>
            <a:r>
              <a:rPr lang="en-US" sz="1600" i="1" kern="100" dirty="0">
                <a:effectLst/>
                <a:ea typeface="Aptos" panose="020B0004020202020204" pitchFamily="34" charset="0"/>
                <a:cs typeface="Times New Roman" panose="02020603050405020304" pitchFamily="18" charset="0"/>
              </a:rPr>
              <a:t>Journal of Electrical Systems and Inf Technol</a:t>
            </a:r>
            <a:r>
              <a:rPr lang="en-US" sz="1600" kern="100" dirty="0">
                <a:effectLst/>
                <a:ea typeface="Aptos" panose="020B0004020202020204" pitchFamily="34" charset="0"/>
                <a:cs typeface="Times New Roman" panose="02020603050405020304" pitchFamily="18" charset="0"/>
              </a:rPr>
              <a:t> </a:t>
            </a:r>
            <a:r>
              <a:rPr lang="en-US" sz="1600" b="1" kern="100" dirty="0">
                <a:effectLst/>
                <a:ea typeface="Aptos" panose="020B0004020202020204" pitchFamily="34" charset="0"/>
                <a:cs typeface="Times New Roman" panose="02020603050405020304" pitchFamily="18" charset="0"/>
              </a:rPr>
              <a:t>11</a:t>
            </a:r>
            <a:r>
              <a:rPr lang="en-US" sz="1600" kern="100" dirty="0">
                <a:effectLst/>
                <a:ea typeface="Aptos" panose="020B0004020202020204" pitchFamily="34" charset="0"/>
                <a:cs typeface="Times New Roman" panose="02020603050405020304" pitchFamily="18" charset="0"/>
              </a:rPr>
              <a:t>, 30 (2024). </a:t>
            </a:r>
            <a:r>
              <a:rPr lang="en-US" sz="1600" u="sng" kern="100" dirty="0">
                <a:effectLst/>
                <a:ea typeface="Aptos" panose="020B000402020202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https://doi.org/10.1186/s43067-024-00155-z</a:t>
            </a:r>
            <a:endParaRPr lang="en-US" sz="1600" u="sng" kern="100" dirty="0">
              <a:effectLst/>
              <a:ea typeface="Aptos" panose="020B0004020202020204" pitchFamily="34" charset="0"/>
              <a:cs typeface="Times New Roman" panose="02020603050405020304" pitchFamily="18" charset="0"/>
            </a:endParaRPr>
          </a:p>
          <a:p>
            <a:pPr indent="228600"/>
            <a:r>
              <a:rPr lang="en-US" sz="1600" i="1" dirty="0">
                <a:effectLst/>
              </a:rPr>
              <a:t>Learn about SAAS</a:t>
            </a:r>
            <a:r>
              <a:rPr lang="en-US" sz="1600" dirty="0">
                <a:effectLst/>
              </a:rPr>
              <a:t>. Oracle. (2024). </a:t>
            </a:r>
            <a:r>
              <a:rPr lang="en-US" sz="1600" dirty="0">
                <a:effectLst/>
                <a:hlinkClick r:id="rId4"/>
              </a:rPr>
              <a:t>https://www.oracle.com/applications/what-is-saas/</a:t>
            </a:r>
            <a:endParaRPr lang="en-US" sz="1600" dirty="0">
              <a:effectLst/>
            </a:endParaRPr>
          </a:p>
          <a:p>
            <a:pPr indent="228600"/>
            <a:r>
              <a:rPr lang="en-US" sz="1600" i="1" dirty="0">
                <a:effectLst/>
              </a:rPr>
              <a:t>System and Server Administration</a:t>
            </a:r>
            <a:r>
              <a:rPr lang="en-US" sz="1600" dirty="0">
                <a:effectLst/>
              </a:rPr>
              <a:t>. </a:t>
            </a:r>
            <a:r>
              <a:rPr lang="en-US" sz="1600" dirty="0" err="1">
                <a:effectLst/>
              </a:rPr>
              <a:t>PeopleBooks</a:t>
            </a:r>
            <a:r>
              <a:rPr lang="en-US" sz="1600" dirty="0">
                <a:effectLst/>
              </a:rPr>
              <a:t> 8.51. (2024). </a:t>
            </a:r>
            <a:r>
              <a:rPr lang="en-US" sz="1600" dirty="0">
                <a:effectLst/>
                <a:hlinkClick r:id="rId5"/>
              </a:rPr>
              <a:t>https://docs.oracle.com/cd/E24150_01/pt851h2/eng/psbooks/tsvt/chapter.htm?File=tsvt%2Fhtm%2Ftsvt03.htm</a:t>
            </a:r>
            <a:r>
              <a:rPr lang="en-US" sz="1600" dirty="0">
                <a:effectLst/>
              </a:rPr>
              <a:t>. Page 3-10</a:t>
            </a:r>
          </a:p>
          <a:p>
            <a:pPr indent="228600"/>
            <a:r>
              <a:rPr lang="en-US" sz="1600" dirty="0">
                <a:effectLst/>
              </a:rPr>
              <a:t>Security Administration. </a:t>
            </a:r>
            <a:r>
              <a:rPr lang="en-US" sz="1600" dirty="0" err="1">
                <a:effectLst/>
              </a:rPr>
              <a:t>PeopleBooks</a:t>
            </a:r>
            <a:r>
              <a:rPr lang="en-US" sz="1600" dirty="0">
                <a:effectLst/>
              </a:rPr>
              <a:t> 8.51. (2024). </a:t>
            </a:r>
            <a:r>
              <a:rPr lang="en-US" sz="1600" dirty="0">
                <a:hlinkClick r:id="rId6"/>
              </a:rPr>
              <a:t>https://docs.oracle.com/cd/E24150_01/pt851h2/eng/psbooks/tsec/book.htm</a:t>
            </a:r>
            <a:r>
              <a:rPr lang="en-US" sz="1600" dirty="0"/>
              <a:t>. Page 2.</a:t>
            </a:r>
          </a:p>
          <a:p>
            <a:pPr indent="228600"/>
            <a:r>
              <a:rPr lang="en-US" sz="1700" kern="100" dirty="0">
                <a:effectLst/>
                <a:ea typeface="Aptos" panose="020B0004020202020204" pitchFamily="34" charset="0"/>
                <a:cs typeface="Times New Roman" panose="02020603050405020304" pitchFamily="18" charset="0"/>
              </a:rPr>
              <a:t>Tyurin, A. Oracle Peoplesoft Applications Are Under Attacks! (2018) </a:t>
            </a:r>
            <a:r>
              <a:rPr lang="en-US" sz="1700" u="sng" kern="100" dirty="0">
                <a:solidFill>
                  <a:srgbClr val="467886"/>
                </a:solidFill>
                <a:effectLst/>
                <a:ea typeface="Aptos" panose="020B0004020202020204" pitchFamily="34" charset="0"/>
                <a:cs typeface="Times New Roman" panose="02020603050405020304" pitchFamily="18" charset="0"/>
                <a:hlinkClick r:id="rId7"/>
              </a:rPr>
              <a:t>https://web.archive.org/web/20181118151138/https://erpscan.com/wp-content/uploads/presentations/2015-Hack-In-Paris-Oracle-PeopleSoft-applications-are-under-attacks.pdf</a:t>
            </a:r>
            <a:r>
              <a:rPr lang="en-US" sz="1700" u="sng" kern="100" dirty="0">
                <a:effectLst/>
                <a:ea typeface="Aptos" panose="020B0004020202020204" pitchFamily="34" charset="0"/>
                <a:cs typeface="Times New Roman" panose="02020603050405020304" pitchFamily="18" charset="0"/>
              </a:rPr>
              <a:t>. Slides 1-72</a:t>
            </a:r>
            <a:endParaRPr lang="en-US" sz="1700" kern="100" dirty="0">
              <a:effectLst/>
              <a:ea typeface="Aptos" panose="020B0004020202020204" pitchFamily="34" charset="0"/>
              <a:cs typeface="Times New Roman" panose="02020603050405020304" pitchFamily="18" charset="0"/>
            </a:endParaRPr>
          </a:p>
          <a:p>
            <a:pPr indent="0">
              <a:buNone/>
            </a:pPr>
            <a:endParaRPr lang="en-US" sz="1600" dirty="0"/>
          </a:p>
          <a:p>
            <a:pPr indent="228600"/>
            <a:endParaRPr lang="en-US" sz="1600" dirty="0">
              <a:effectLst/>
            </a:endParaRPr>
          </a:p>
          <a:p>
            <a:pPr indent="228600"/>
            <a:endParaRPr lang="en-US" sz="1600" dirty="0">
              <a:effectLst/>
            </a:endParaRPr>
          </a:p>
          <a:p>
            <a:pPr indent="228600"/>
            <a:endParaRPr lang="en-US" sz="1600" dirty="0">
              <a:effectLst/>
            </a:endParaRPr>
          </a:p>
          <a:p>
            <a:pPr indent="228600"/>
            <a:endParaRPr lang="en-US" sz="2000" u="sng" kern="100" dirty="0">
              <a:effectLst/>
              <a:ea typeface="Aptos" panose="020B0004020202020204" pitchFamily="34" charset="0"/>
              <a:cs typeface="Times New Roman" panose="02020603050405020304" pitchFamily="18" charset="0"/>
            </a:endParaRPr>
          </a:p>
          <a:p>
            <a:pPr indent="228600"/>
            <a:endParaRPr lang="en-US" sz="2000" kern="100" dirty="0">
              <a:effectLst/>
              <a:ea typeface="Aptos" panose="020B0004020202020204" pitchFamily="34" charset="0"/>
              <a:cs typeface="Times New Roman" panose="02020603050405020304" pitchFamily="18" charset="0"/>
            </a:endParaRPr>
          </a:p>
          <a:p>
            <a:endParaRPr lang="en-US" b="0" i="0" dirty="0">
              <a:solidFill>
                <a:srgbClr val="333333"/>
              </a:solidFill>
              <a:effectLst/>
              <a:latin typeface="Lato Extended"/>
            </a:endParaRPr>
          </a:p>
          <a:p>
            <a:endParaRPr lang="en-US" dirty="0"/>
          </a:p>
        </p:txBody>
      </p:sp>
    </p:spTree>
    <p:extLst>
      <p:ext uri="{BB962C8B-B14F-4D97-AF65-F5344CB8AC3E}">
        <p14:creationId xmlns:p14="http://schemas.microsoft.com/office/powerpoint/2010/main" val="326622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3AFB-00C8-ADEB-C095-750BDA519CB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EE2260A-BC90-F510-10C7-2B15DD039B86}"/>
              </a:ext>
            </a:extLst>
          </p:cNvPr>
          <p:cNvSpPr>
            <a:spLocks noGrp="1"/>
          </p:cNvSpPr>
          <p:nvPr>
            <p:ph idx="1"/>
          </p:nvPr>
        </p:nvSpPr>
        <p:spPr/>
        <p:txBody>
          <a:bodyPr/>
          <a:lstStyle/>
          <a:p>
            <a:r>
              <a:rPr lang="en-US" i="1" dirty="0">
                <a:effectLst/>
              </a:rPr>
              <a:t>What is Two-factor authentication?</a:t>
            </a:r>
            <a:r>
              <a:rPr lang="en-US" dirty="0">
                <a:effectLst/>
              </a:rPr>
              <a:t>. Guide to Two-Factor Authentication · Duo Security. (2024). </a:t>
            </a:r>
            <a:r>
              <a:rPr lang="en-US" dirty="0">
                <a:effectLst/>
                <a:hlinkClick r:id="rId2"/>
              </a:rPr>
              <a:t>https://guide.duo.com/</a:t>
            </a:r>
            <a:endParaRPr lang="en-US" dirty="0">
              <a:effectLst/>
            </a:endParaRPr>
          </a:p>
          <a:p>
            <a:r>
              <a:rPr lang="en-US" i="1" dirty="0">
                <a:effectLst/>
              </a:rPr>
              <a:t>Duo Two-Factor Authentication for PeopleSoft</a:t>
            </a:r>
            <a:r>
              <a:rPr lang="en-US" dirty="0">
                <a:effectLst/>
              </a:rPr>
              <a:t>. Cisco Duo. (2024). https://duo.com/docs/peoplesoft</a:t>
            </a:r>
          </a:p>
          <a:p>
            <a:endParaRPr lang="en-US" dirty="0">
              <a:effectLst/>
            </a:endParaRPr>
          </a:p>
          <a:p>
            <a:endParaRPr lang="en-US" dirty="0"/>
          </a:p>
        </p:txBody>
      </p:sp>
    </p:spTree>
    <p:extLst>
      <p:ext uri="{BB962C8B-B14F-4D97-AF65-F5344CB8AC3E}">
        <p14:creationId xmlns:p14="http://schemas.microsoft.com/office/powerpoint/2010/main" val="3996414961"/>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TM04033917[[fn=Berlin]]</Template>
  <TotalTime>433</TotalTime>
  <Words>2522</Words>
  <Application>Microsoft Office PowerPoint</Application>
  <PresentationFormat>Widescreen</PresentationFormat>
  <Paragraphs>154</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Lato Extended</vt:lpstr>
      <vt:lpstr>Trebuchet MS</vt:lpstr>
      <vt:lpstr>Berlin</vt:lpstr>
      <vt:lpstr>PeopleSoft, Duo, &amp; You</vt:lpstr>
      <vt:lpstr>The 4 Pillars of Identity Access Management (IAM)</vt:lpstr>
      <vt:lpstr>Two Principles of Communication and Network Security</vt:lpstr>
      <vt:lpstr>PeopleSoft</vt:lpstr>
      <vt:lpstr>Benefits of SaaS</vt:lpstr>
      <vt:lpstr>PS Internet Architecture - Layering &amp; Domain Separation</vt:lpstr>
      <vt:lpstr>Web Browsers &amp; Servers</vt:lpstr>
      <vt:lpstr>PS Authentication &amp; Single Sign-On (SSO)</vt:lpstr>
      <vt:lpstr>Example of PS SSO &amp; PS_TOKEN</vt:lpstr>
      <vt:lpstr>User Profiles &amp; PS_TOKENS</vt:lpstr>
      <vt:lpstr>Issues with SSO &amp; PS_TOKENS</vt:lpstr>
      <vt:lpstr>Zero Trust Architecture (ZTA)</vt:lpstr>
      <vt:lpstr>ZTA 7 Key Pillars</vt:lpstr>
      <vt:lpstr>Zero Trust Architecture (ZTA) &amp; UNT</vt:lpstr>
      <vt:lpstr>The Cons of Zero Trust</vt:lpstr>
      <vt:lpstr>IAM Controls - Lightweight Directory Access Protocol (LDAP)</vt:lpstr>
      <vt:lpstr>IAM Controls – Multi-Factor Authentication (MFA)</vt:lpstr>
      <vt:lpstr>Student Perspective</vt:lpstr>
      <vt:lpstr>Employee Perspective</vt:lpstr>
      <vt:lpstr>Leveraging AI for MFA</vt:lpstr>
      <vt:lpstr>AMFA &amp; ZTA</vt:lpstr>
      <vt:lpstr>Continuous User Authentication</vt:lpstr>
      <vt:lpstr>Intelligent User Profile Management &amp; Access Reviews</vt:lpstr>
      <vt:lpstr>Leveraging AI for IAM &amp; Network Security and Communication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Bridge, Christian</dc:creator>
  <cp:lastModifiedBy>Bridge, Christian</cp:lastModifiedBy>
  <cp:revision>7</cp:revision>
  <dcterms:created xsi:type="dcterms:W3CDTF">2024-11-24T15:46:52Z</dcterms:created>
  <dcterms:modified xsi:type="dcterms:W3CDTF">2024-11-24T23:00:39Z</dcterms:modified>
</cp:coreProperties>
</file>